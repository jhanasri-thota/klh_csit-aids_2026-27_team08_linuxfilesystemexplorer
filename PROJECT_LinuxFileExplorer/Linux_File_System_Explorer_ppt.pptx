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8"/>
  </p:notes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 autoAdjust="0"/>
    <p:restoredTop sz="94660"/>
  </p:normalViewPr>
  <p:slideViewPr>
    <p:cSldViewPr snapToGrid="0">
      <p:cViewPr varScale="1">
        <p:scale>
          <a:sx n="82" d="100"/>
          <a:sy n="82" d="100"/>
        </p:scale>
        <p:origin x="9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EB46A-26D9-4B79-A0BA-94F0685D32D0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0B1D7-2D89-41AD-A35D-8CABD3C8F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75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20A89-1EA5-4B48-949C-8D49FA71E17A}" type="datetime1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A0E909-4676-4DFF-ACF3-65FD721A0C35}" type="datetime1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A0D50A7-FC51-45F0-ACE8-52BE692F1158}" type="datetime1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6EF69A-9B98-48A6-8714-D502F21C59AC}" type="datetime1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68901D-AE11-453B-BAB5-EBEBF3FD6D52}" type="datetime1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EFD338-D2AE-4808-B786-CD8FFD22129C}" type="datetime1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5FCE24-E184-4609-AA44-1D31475DE58F}" type="datetime1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2F83FF-62C9-4D61-84C4-3D92576553DA}" type="datetime1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872C22-043C-453D-BC8F-50D3C2C8D791}" type="datetime1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0F6FA3-7D56-4F82-BC8C-4558DAB8F5A1}" type="datetime1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66328A-B452-492B-B140-676AC5719AC5}" type="datetime1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4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8.png"/><Relationship Id="rId7" Type="http://schemas.openxmlformats.org/officeDocument/2006/relationships/image" Target="../media/image1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36.png"/><Relationship Id="rId5" Type="http://schemas.openxmlformats.org/officeDocument/2006/relationships/image" Target="../media/image34.png"/><Relationship Id="rId10" Type="http://schemas.openxmlformats.org/officeDocument/2006/relationships/image" Target="../media/image15.png"/><Relationship Id="rId4" Type="http://schemas.openxmlformats.org/officeDocument/2006/relationships/image" Target="../media/image33.png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42448" y="652145"/>
            <a:ext cx="9163372" cy="2316480"/>
          </a:xfrm>
        </p:spPr>
        <p:txBody>
          <a:bodyPr/>
          <a:lstStyle/>
          <a:p>
            <a:pPr algn="ctr"/>
            <a:r>
              <a:rPr sz="3600" b="1">
                <a:solidFill>
                  <a:srgbClr val="C00000"/>
                </a:solidFill>
              </a:rPr>
              <a:t>Operating System and System Programming (25CS2104E)</a:t>
            </a:r>
          </a:p>
          <a:p>
            <a:pPr algn="ctr">
              <a:spcBef>
                <a:spcPts val="1800"/>
              </a:spcBef>
            </a:pPr>
            <a:r>
              <a:rPr sz="3200" b="1"/>
              <a:t>Linux File System Explorer Using System Calls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9141" y="4643428"/>
            <a:ext cx="5384800" cy="1913890"/>
          </a:xfrm>
        </p:spPr>
        <p:txBody>
          <a:bodyPr/>
          <a:lstStyle/>
          <a:p>
            <a:pPr algn="l"/>
            <a:r>
              <a:rPr lang="en-US" b="1">
                <a:solidFill>
                  <a:srgbClr val="002060"/>
                </a:solidFill>
              </a:rPr>
              <a:t>Team Members:</a:t>
            </a:r>
          </a:p>
          <a:p>
            <a:pPr algn="l"/>
            <a:r>
              <a:rPr lang="en-US">
                <a:solidFill>
                  <a:srgbClr val="002060"/>
                </a:solidFill>
              </a:rPr>
              <a:t>Sindhuja  –  2520080045</a:t>
            </a:r>
          </a:p>
          <a:p>
            <a:pPr algn="l"/>
            <a:r>
              <a:rPr lang="en-US">
                <a:solidFill>
                  <a:srgbClr val="002060"/>
                </a:solidFill>
              </a:rPr>
              <a:t>Jhanasri  –  2520090121</a:t>
            </a:r>
          </a:p>
          <a:p>
            <a:pPr algn="l"/>
            <a:r>
              <a:rPr lang="en-US">
                <a:solidFill>
                  <a:srgbClr val="002060"/>
                </a:solidFill>
              </a:rPr>
              <a:t>Alekhya  –  2520090126</a:t>
            </a:r>
          </a:p>
          <a:p>
            <a:endParaRPr lang="en-US" sz="1800" kern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F78912-86E2-3DFA-A0B9-1E6CB3A9493D}"/>
              </a:ext>
            </a:extLst>
          </p:cNvPr>
          <p:cNvSpPr txBox="1"/>
          <p:nvPr/>
        </p:nvSpPr>
        <p:spPr>
          <a:xfrm>
            <a:off x="167185" y="4846321"/>
            <a:ext cx="439116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2400" kern="100" dirty="0"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/>
            <a:endParaRPr lang="en-US" sz="2200" b="1" dirty="0">
              <a:solidFill>
                <a:schemeClr val="tx1"/>
              </a:solidFill>
            </a:endParaRPr>
          </a:p>
          <a:p>
            <a:pPr algn="ctr"/>
            <a:r>
              <a:rPr lang="en-US" sz="2200" b="1" dirty="0">
                <a:solidFill>
                  <a:schemeClr val="tx1"/>
                </a:solidFill>
              </a:rPr>
              <a:t>Raghupathi M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CSE Department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8" name="Team Line"/>
          <p:cNvSpPr txBox="1"/>
          <p:nvPr/>
        </p:nvSpPr>
        <p:spPr>
          <a:xfrm>
            <a:off x="2743200" y="2971800"/>
            <a:ext cx="6702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02060"/>
                </a:solidFill>
              </a:rPr>
              <a:t>Team 08   |   Department of CS&amp;IT, AI&amp;DS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/>
          <p:nvPr/>
        </p:nvSpPr>
        <p:spPr>
          <a:xfrm>
            <a:off x="2624328" y="219456"/>
            <a:ext cx="6949440" cy="521207"/>
          </a:xfrm>
          <a:prstGeom prst="roundRect">
            <a:avLst>
              <a:gd name="adj" fmla="val 1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Contents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0CFDE-CD93-201B-A399-23510E8E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10/31/2026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97D3-BC04-F1C9-00E9-94B0738C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2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914400" y="1234440"/>
            <a:ext cx="502920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51560" y="1362456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234440"/>
            <a:ext cx="42976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</a:rPr>
              <a:t>Abstract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984248"/>
            <a:ext cx="502920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51560" y="2112264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984248"/>
            <a:ext cx="42976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</a:rPr>
              <a:t>Introduction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734056"/>
            <a:ext cx="502920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51560" y="2862072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734056"/>
            <a:ext cx="42976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</a:rPr>
              <a:t>Problem Statement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483864"/>
            <a:ext cx="502920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51560" y="3611880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483864"/>
            <a:ext cx="42976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</a:rPr>
              <a:t>Objectives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233672"/>
            <a:ext cx="502920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51560" y="4361688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233672"/>
            <a:ext cx="42976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</a:rPr>
              <a:t>Hardware and Software Requirements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983479"/>
            <a:ext cx="502920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51560" y="5111495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983479"/>
            <a:ext cx="42976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</a:rPr>
              <a:t>System Architecture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234440"/>
            <a:ext cx="502920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46520" y="1362456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1234440"/>
            <a:ext cx="42976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</a:rPr>
              <a:t>Modules and Features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1984248"/>
            <a:ext cx="502920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446520" y="2112264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1984248"/>
            <a:ext cx="42976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</a:rPr>
              <a:t>Implementation and System Calls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2734056"/>
            <a:ext cx="502920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46520" y="2862072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2734056"/>
            <a:ext cx="42976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62626"/>
                </a:solidFill>
              </a:rPr>
              <a:t>Course Outcome Mapping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3483864"/>
            <a:ext cx="502920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446520" y="3611880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483864"/>
            <a:ext cx="42976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</a:rPr>
              <a:t>Testing and Results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233672"/>
            <a:ext cx="502920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446520" y="4361688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233672"/>
            <a:ext cx="42976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</a:rPr>
              <a:t>Conclusion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4983479"/>
            <a:ext cx="502920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446520" y="5111495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4983479"/>
            <a:ext cx="42976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</a:rPr>
              <a:t>Future Enhancements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/>
          <p:nvPr/>
        </p:nvSpPr>
        <p:spPr>
          <a:xfrm>
            <a:off x="2624328" y="219456"/>
            <a:ext cx="6949440" cy="521207"/>
          </a:xfrm>
          <a:prstGeom prst="roundRect">
            <a:avLst>
              <a:gd name="adj" fmla="val 1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Abstract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0CFDE-CD93-201B-A399-23510E8E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10/31/2026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97D3-BC04-F1C9-00E9-94B0738C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3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658368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603504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C00000"/>
                </a:solidFill>
              </a:rPr>
              <a:t>Linux File System Explorer</a:t>
            </a:r>
            <a:r>
              <a:rPr sz="1800" b="0" i="0">
                <a:solidFill>
                  <a:srgbClr val="262626"/>
                </a:solidFill>
              </a:rPr>
              <a:t> is a menu-driven, command-line application written in C. It lets users manage files and directories in a Linux environment through a simple interactive menu.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262626"/>
                </a:solidFill>
              </a:rPr>
              <a:t>Users can create, write, read and delete files, create and remove directories, view file information and reposition file offsets with lseek().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262626"/>
                </a:solidFill>
              </a:rPr>
              <a:t>Every operation is carried out through Linux system calls and POSIX interfaces, showing how a user-space program requests services from the Linux kernel.</a:t>
            </a:r>
          </a:p>
          <a:p>
            <a:pPr algn="l"/>
            <a:r>
              <a:rPr sz="1800" b="0" i="0">
                <a:solidFill>
                  <a:srgbClr val="262626"/>
                </a:solidFill>
              </a:rPr>
              <a:t>Additional modules cover process management, IPC, memory management and thread synchronization, giving practical OS and system-programming experience.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188720"/>
            <a:ext cx="4023360" cy="100584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26679" y="141732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aTerminal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554480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12480" y="128016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8F1D28"/>
                </a:solidFill>
              </a:rPr>
              <a:t>Menu-driven CLI</a:t>
            </a:r>
          </a:p>
          <a:p>
            <a:pPr algn="l"/>
            <a:r>
              <a:rPr sz="1300" b="0" i="0">
                <a:solidFill>
                  <a:srgbClr val="595959"/>
                </a:solidFill>
              </a:rPr>
              <a:t>Simple interactive interface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377440"/>
            <a:ext cx="4023360" cy="100584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726679" y="260604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FolderOpe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743200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12480" y="246888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8F1D28"/>
                </a:solidFill>
              </a:rPr>
              <a:t>File and Directory Operations</a:t>
            </a:r>
          </a:p>
          <a:p>
            <a:pPr algn="l"/>
            <a:r>
              <a:rPr sz="1300" b="0" i="0">
                <a:solidFill>
                  <a:srgbClr val="595959"/>
                </a:solidFill>
              </a:rPr>
              <a:t>Menu options 1 – 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3566160"/>
            <a:ext cx="4023360" cy="100584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726679" y="379476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FaCog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3931920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412480" y="36576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8F1D28"/>
                </a:solidFill>
              </a:rPr>
              <a:t>System Calls</a:t>
            </a:r>
          </a:p>
          <a:p>
            <a:pPr algn="l"/>
            <a:r>
              <a:rPr sz="1300" b="0" i="0">
                <a:solidFill>
                  <a:srgbClr val="595959"/>
                </a:solidFill>
              </a:rPr>
              <a:t>Linux / POSIX interfaces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4754880"/>
            <a:ext cx="4023360" cy="100584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726679" y="498348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FaGraduationCa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5120640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412480" y="484632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8F1D28"/>
                </a:solidFill>
              </a:rPr>
              <a:t>Practical OS Learning</a:t>
            </a:r>
          </a:p>
          <a:p>
            <a:pPr algn="l"/>
            <a:r>
              <a:rPr sz="1300" b="0" i="0">
                <a:solidFill>
                  <a:srgbClr val="595959"/>
                </a:solidFill>
              </a:rPr>
              <a:t>Six course outcomes covered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/>
          <p:nvPr/>
        </p:nvSpPr>
        <p:spPr>
          <a:xfrm>
            <a:off x="2624328" y="219456"/>
            <a:ext cx="6949440" cy="521207"/>
          </a:xfrm>
          <a:prstGeom prst="roundRect">
            <a:avLst>
              <a:gd name="adj" fmla="val 1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0CFDE-CD93-201B-A399-23510E8E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10/31/2026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97D3-BC04-F1C9-00E9-94B0738C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C00000"/>
                </a:solidFill>
              </a:rPr>
              <a:t>A file system</a:t>
            </a:r>
            <a:r>
              <a:rPr sz="1600" b="0" i="0">
                <a:solidFill>
                  <a:srgbClr val="262626"/>
                </a:solidFill>
              </a:rPr>
              <a:t> lets the operating system store and organize files and folders. This project shows how a user-space program works with it through the Linux kernel.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59" y="210312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FolderOpe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19" y="2240280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08760" y="210312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8F1D28"/>
                </a:solidFill>
              </a:rPr>
              <a:t>Linux File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78892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Organize files and folders for storage and retrieval.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92024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80560" y="210312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Use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240280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66360" y="210312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8F1D28"/>
                </a:solidFill>
              </a:rPr>
              <a:t>User-Space Applications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78892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Our explorer runs in user space and cannot access hardware directly.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92024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138159" y="210312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aMicrochi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19" y="2240280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23959" y="210312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8F1D28"/>
                </a:solidFill>
              </a:rPr>
              <a:t>Kernel Interaction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9" y="278892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The Linux kernel performs privileged file operations on behalf of programs.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3192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22959" y="411480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FaCog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19" y="4251960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508760" y="411480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8F1D28"/>
                </a:solidFill>
              </a:rPr>
              <a:t>System Calls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80060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The interface through which applications request kernel services.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393192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480560" y="411480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aFileA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251960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166360" y="411480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8F1D28"/>
                </a:solidFill>
              </a:rPr>
              <a:t>File Handling and Directories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80060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Create, read, write and delete files; manage directories.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393192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138159" y="411480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FaKey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19" y="4251960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823959" y="411480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8F1D28"/>
                </a:solidFill>
              </a:rPr>
              <a:t>File Descriptors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59" y="480060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Integer handles that identify open files in a process.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/>
          <p:nvPr/>
        </p:nvSpPr>
        <p:spPr>
          <a:xfrm>
            <a:off x="2624328" y="219456"/>
            <a:ext cx="6949440" cy="521207"/>
          </a:xfrm>
          <a:prstGeom prst="roundRect">
            <a:avLst>
              <a:gd name="adj" fmla="val 1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Problem Statement and Objectives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0CFDE-CD93-201B-A399-23510E8E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10/31/2026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97D3-BC04-F1C9-00E9-94B0738C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5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4206240" cy="4754880"/>
          </a:xfrm>
          <a:prstGeom prst="roundRect">
            <a:avLst>
              <a:gd name="adj" fmla="val 5000"/>
            </a:avLst>
          </a:prstGeom>
          <a:solidFill>
            <a:srgbClr val="FBEAEA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132588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aBullsey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39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132588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8F1D28"/>
                </a:solidFill>
              </a:rP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3749039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spcAft>
                <a:spcPts val="800"/>
              </a:spcAft>
              <a:buClr>
                <a:srgbClr val="C00000"/>
              </a:buClr>
              <a:buChar char="•"/>
            </a:pPr>
            <a:r>
              <a:rPr sz="1500" b="0" i="0">
                <a:solidFill>
                  <a:srgbClr val="262626"/>
                </a:solidFill>
              </a:rPr>
              <a:t>Learners often find it hard to connect operating-system theory with real programs.</a:t>
            </a:r>
          </a:p>
          <a:p>
            <a:pPr marL="182880" indent="-182880" algn="l">
              <a:spcAft>
                <a:spcPts val="800"/>
              </a:spcAft>
              <a:buClr>
                <a:srgbClr val="C00000"/>
              </a:buClr>
              <a:buChar char="•"/>
            </a:pPr>
            <a:r>
              <a:rPr sz="1500" b="0" i="0">
                <a:solidFill>
                  <a:srgbClr val="262626"/>
                </a:solidFill>
              </a:rPr>
              <a:t>File and directory handling in Linux needs an understanding of system calls, file descriptors and the kernel.</a:t>
            </a:r>
          </a:p>
          <a:p>
            <a:pPr marL="182880" indent="-182880" algn="l">
              <a:buClr>
                <a:srgbClr val="C00000"/>
              </a:buClr>
              <a:buChar char="•"/>
            </a:pPr>
            <a:r>
              <a:rPr sz="1500" b="0" i="0">
                <a:solidFill>
                  <a:srgbClr val="262626"/>
                </a:solidFill>
              </a:rPr>
              <a:t>A simple menu-driven Linux application is needed to perform these operations and show how user programs interact with OS services.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09728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8F1D28"/>
                </a:solidFill>
              </a:rPr>
              <a:t>Project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5074920" y="1673352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1645920"/>
            <a:ext cx="6126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Understand the role of the OS in providing services to applications</a:t>
            </a:r>
          </a:p>
        </p:txBody>
      </p:sp>
      <p:sp>
        <p:nvSpPr>
          <p:cNvPr id="15" name="Oval 14"/>
          <p:cNvSpPr/>
          <p:nvPr/>
        </p:nvSpPr>
        <p:spPr>
          <a:xfrm>
            <a:off x="5074920" y="2157984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130552"/>
            <a:ext cx="6126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Learn how user-space programs interact with the Linux kernel</a:t>
            </a:r>
          </a:p>
        </p:txBody>
      </p:sp>
      <p:sp>
        <p:nvSpPr>
          <p:cNvPr id="17" name="Oval 16"/>
          <p:cNvSpPr/>
          <p:nvPr/>
        </p:nvSpPr>
        <p:spPr>
          <a:xfrm>
            <a:off x="5074920" y="2642616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615184"/>
            <a:ext cx="6126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Perform file and directory operations using Linux interfaces</a:t>
            </a:r>
          </a:p>
        </p:txBody>
      </p:sp>
      <p:sp>
        <p:nvSpPr>
          <p:cNvPr id="19" name="Oval 18"/>
          <p:cNvSpPr/>
          <p:nvPr/>
        </p:nvSpPr>
        <p:spPr>
          <a:xfrm>
            <a:off x="5074920" y="3127248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099816"/>
            <a:ext cx="6126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Understand file metadata and file positioning</a:t>
            </a:r>
          </a:p>
        </p:txBody>
      </p:sp>
      <p:sp>
        <p:nvSpPr>
          <p:cNvPr id="21" name="Oval 20"/>
          <p:cNvSpPr/>
          <p:nvPr/>
        </p:nvSpPr>
        <p:spPr>
          <a:xfrm>
            <a:off x="5074920" y="3611879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3584448"/>
            <a:ext cx="6126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Explore process management and process control</a:t>
            </a:r>
          </a:p>
        </p:txBody>
      </p:sp>
      <p:sp>
        <p:nvSpPr>
          <p:cNvPr id="23" name="Oval 22"/>
          <p:cNvSpPr/>
          <p:nvPr/>
        </p:nvSpPr>
        <p:spPr>
          <a:xfrm>
            <a:off x="5074920" y="4096512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4069080"/>
            <a:ext cx="6126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Demonstrate IPC using pipes, FIFOs and signals</a:t>
            </a:r>
          </a:p>
        </p:txBody>
      </p:sp>
      <p:sp>
        <p:nvSpPr>
          <p:cNvPr id="25" name="Oval 24"/>
          <p:cNvSpPr/>
          <p:nvPr/>
        </p:nvSpPr>
        <p:spPr>
          <a:xfrm>
            <a:off x="5074920" y="4581144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4553712"/>
            <a:ext cx="6126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Explore memory-management concepts</a:t>
            </a:r>
          </a:p>
        </p:txBody>
      </p:sp>
      <p:sp>
        <p:nvSpPr>
          <p:cNvPr id="27" name="Oval 26"/>
          <p:cNvSpPr/>
          <p:nvPr/>
        </p:nvSpPr>
        <p:spPr>
          <a:xfrm>
            <a:off x="5074920" y="5065776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5038344"/>
            <a:ext cx="6126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Understand thread synchronization and concurrency</a:t>
            </a:r>
          </a:p>
        </p:txBody>
      </p:sp>
      <p:sp>
        <p:nvSpPr>
          <p:cNvPr id="29" name="Oval 28"/>
          <p:cNvSpPr/>
          <p:nvPr/>
        </p:nvSpPr>
        <p:spPr>
          <a:xfrm>
            <a:off x="5074920" y="5550408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5522976"/>
            <a:ext cx="6126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Apply C and Linux systems programming in a practical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/>
          <p:nvPr/>
        </p:nvSpPr>
        <p:spPr>
          <a:xfrm>
            <a:off x="2624328" y="219456"/>
            <a:ext cx="6949440" cy="521207"/>
          </a:xfrm>
          <a:prstGeom prst="roundRect">
            <a:avLst>
              <a:gd name="adj" fmla="val 1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Hardware and Software Requirements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0CFDE-CD93-201B-A399-23510E8E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10/31/2026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97D3-BC04-F1C9-00E9-94B0738C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6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aMicrochip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25880" y="11887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8F1D28"/>
                </a:solidFill>
              </a:rPr>
              <a:t>Hardware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920240"/>
          <a:ext cx="4297680" cy="22677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Requirement</a:t>
                      </a:r>
                    </a:p>
                  </a:txBody>
                  <a:tcPr marT="27432" marB="27432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62626"/>
                          </a:solidFill>
                        </a:rPr>
                        <a:t>Processor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</a:rPr>
                        <a:t>Intel Core i3 or above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62626"/>
                          </a:solidFill>
                        </a:rPr>
                        <a:t>RAM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</a:rPr>
                        <a:t>4 GB or above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62626"/>
                          </a:solidFill>
                        </a:rPr>
                        <a:t>Storage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</a:rPr>
                        <a:t>10 GB free space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val 10"/>
          <p:cNvSpPr/>
          <p:nvPr/>
        </p:nvSpPr>
        <p:spPr>
          <a:xfrm>
            <a:off x="5394960" y="118872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aTerminal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325880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80760" y="11887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8F1D28"/>
                </a:solidFill>
              </a:rPr>
              <a:t>Software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94960" y="1920240"/>
          <a:ext cx="6035040" cy="39684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Software</a:t>
                      </a:r>
                    </a:p>
                  </a:txBody>
                  <a:tcPr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Requirement</a:t>
                      </a:r>
                    </a:p>
                  </a:txBody>
                  <a:tcPr marT="27432" marB="27432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62626"/>
                          </a:solidFill>
                        </a:rPr>
                        <a:t>Operating System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</a:rPr>
                        <a:t>Linux / Ubuntu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62626"/>
                          </a:solidFill>
                        </a:rPr>
                        <a:t>Programming Language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</a:rPr>
                        <a:t>C Programming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62626"/>
                          </a:solidFill>
                        </a:rPr>
                        <a:t>Compiler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</a:rPr>
                        <a:t>GCC Compiler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62626"/>
                          </a:solidFill>
                        </a:rPr>
                        <a:t>APIs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</a:rPr>
                        <a:t>Linux / POSIX System Calls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62626"/>
                          </a:solidFill>
                        </a:rPr>
                        <a:t>Development Tool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</a:rPr>
                        <a:t>VS Code / Linux Terminal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62626"/>
                          </a:solidFill>
                        </a:rPr>
                        <a:t>Build Tool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</a:rPr>
                        <a:t>GNU Make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0080" y="4480560"/>
            <a:ext cx="4297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Ubuntu on Windows Subsystem for Linux (WSL) can also be used as a Linux development environment.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/>
          <p:nvPr/>
        </p:nvSpPr>
        <p:spPr>
          <a:xfrm>
            <a:off x="2624328" y="219456"/>
            <a:ext cx="6949440" cy="521207"/>
          </a:xfrm>
          <a:prstGeom prst="roundRect">
            <a:avLst>
              <a:gd name="adj" fmla="val 1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0CFDE-CD93-201B-A399-23510E8E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10/31/2026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97D3-BC04-F1C9-00E9-94B0738C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7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731520" y="1024128"/>
            <a:ext cx="448056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400" b="1" i="0">
                <a:solidFill>
                  <a:srgbClr val="8F1D28"/>
                </a:solidFill>
              </a:rPr>
              <a:t>USER</a:t>
            </a:r>
          </a:p>
        </p:txBody>
      </p:sp>
      <p:sp>
        <p:nvSpPr>
          <p:cNvPr id="8" name="Down Arrow 7"/>
          <p:cNvSpPr/>
          <p:nvPr/>
        </p:nvSpPr>
        <p:spPr>
          <a:xfrm>
            <a:off x="2852928" y="1490472"/>
            <a:ext cx="237744" cy="155448"/>
          </a:xfrm>
          <a:prstGeom prst="down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55064"/>
            <a:ext cx="448056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400" b="1" i="0">
                <a:solidFill>
                  <a:srgbClr val="8F1D28"/>
                </a:solidFill>
              </a:rPr>
              <a:t>COMMAND LINE INTERFACE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852928" y="2121408"/>
            <a:ext cx="237744" cy="155448"/>
          </a:xfrm>
          <a:prstGeom prst="down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448056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400" b="1" i="0">
                <a:solidFill>
                  <a:srgbClr val="8F1D28"/>
                </a:solidFill>
              </a:rPr>
              <a:t>FILE SYSTEM EXPLORER APPLICATION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852928" y="2752344"/>
            <a:ext cx="237744" cy="155448"/>
          </a:xfrm>
          <a:prstGeom prst="down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2916936"/>
            <a:ext cx="448056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400" b="1" i="0">
                <a:solidFill>
                  <a:srgbClr val="8F1D28"/>
                </a:solidFill>
              </a:rPr>
              <a:t>FILE AND DIRECTORY OPERATIONS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852928" y="3383279"/>
            <a:ext cx="237744" cy="155448"/>
          </a:xfrm>
          <a:prstGeom prst="down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3547872"/>
            <a:ext cx="4480560" cy="457200"/>
          </a:xfrm>
          <a:prstGeom prst="roundRect">
            <a:avLst>
              <a:gd name="adj" fmla="val 25000"/>
            </a:avLst>
          </a:prstGeom>
          <a:solidFill>
            <a:srgbClr val="8F1D28"/>
          </a:solidFill>
          <a:ln w="19050">
            <a:solidFill>
              <a:srgbClr val="8F1D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LINUX SYSTEM CALLS / POSIX APIs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852928" y="4014215"/>
            <a:ext cx="237744" cy="155448"/>
          </a:xfrm>
          <a:prstGeom prst="down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4178808"/>
            <a:ext cx="4480560" cy="457200"/>
          </a:xfrm>
          <a:prstGeom prst="roundRect">
            <a:avLst>
              <a:gd name="adj" fmla="val 25000"/>
            </a:avLst>
          </a:prstGeom>
          <a:solidFill>
            <a:srgbClr val="8F1D28"/>
          </a:solidFill>
          <a:ln w="19050">
            <a:solidFill>
              <a:srgbClr val="8F1D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LINUX KERNEL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2852928" y="4645152"/>
            <a:ext cx="237744" cy="155448"/>
          </a:xfrm>
          <a:prstGeom prst="down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" y="4809744"/>
            <a:ext cx="4480560" cy="457200"/>
          </a:xfrm>
          <a:prstGeom prst="roundRect">
            <a:avLst>
              <a:gd name="adj" fmla="val 25000"/>
            </a:avLst>
          </a:prstGeom>
          <a:solidFill>
            <a:srgbClr val="8F1D28"/>
          </a:solidFill>
          <a:ln w="19050">
            <a:solidFill>
              <a:srgbClr val="8F1D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FILE SYSTEM / STORAGE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852928" y="5276088"/>
            <a:ext cx="237744" cy="155448"/>
          </a:xfrm>
          <a:prstGeom prst="down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1520" y="5440680"/>
            <a:ext cx="448056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400" b="1" i="0">
                <a:solidFill>
                  <a:srgbClr val="8F1D28"/>
                </a:solidFill>
              </a:rPr>
              <a:t>OUTPUT TO USER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77840" y="1051560"/>
            <a:ext cx="274320" cy="2011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0" y="100584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User space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1051560"/>
            <a:ext cx="274320" cy="201168"/>
          </a:xfrm>
          <a:prstGeom prst="roundRect">
            <a:avLst>
              <a:gd name="adj" fmla="val 30000"/>
            </a:avLst>
          </a:prstGeom>
          <a:solidFill>
            <a:srgbClr val="8F1D28"/>
          </a:solidFill>
          <a:ln w="19050">
            <a:solidFill>
              <a:srgbClr val="8F1D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79" y="100584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System-call interface / kernel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77840" y="1463040"/>
            <a:ext cx="6035040" cy="132588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715000" y="160020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FaFileAl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1714500"/>
            <a:ext cx="228600" cy="228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309360" y="1572768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8F1D28"/>
                </a:solidFill>
              </a:rPr>
              <a:t>File I/O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0" y="2103120"/>
            <a:ext cx="886968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C00000"/>
                </a:solidFill>
              </a:rPr>
              <a:t>open()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39128" y="2103120"/>
            <a:ext cx="886968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C00000"/>
                </a:solidFill>
              </a:rPr>
              <a:t>read()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17536" y="2103120"/>
            <a:ext cx="992124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C00000"/>
                </a:solidFill>
              </a:rPr>
              <a:t>write()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01100" y="2103120"/>
            <a:ext cx="992124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C00000"/>
                </a:solidFill>
              </a:rPr>
              <a:t>close()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84664" y="2103120"/>
            <a:ext cx="992124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C00000"/>
                </a:solidFill>
              </a:rPr>
              <a:t>lseek()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2468880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Used by: Create, Write, Read File; File Position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77840" y="2898648"/>
            <a:ext cx="6035040" cy="132588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715000" y="3035808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FaFolderOpe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3150108"/>
            <a:ext cx="228600" cy="2286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309360" y="3008376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8F1D28"/>
                </a:solidFill>
              </a:rPr>
              <a:t>Directory Operations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60720" y="3538728"/>
            <a:ext cx="992124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C00000"/>
                </a:solidFill>
              </a:rPr>
              <a:t>mkdir()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44283" y="3538728"/>
            <a:ext cx="992124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C00000"/>
                </a:solidFill>
              </a:rPr>
              <a:t>rmdir()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27848" y="3538728"/>
            <a:ext cx="120243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C00000"/>
                </a:solidFill>
              </a:rPr>
              <a:t>opendir()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21724" y="3538728"/>
            <a:ext cx="120243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C00000"/>
                </a:solidFill>
              </a:rPr>
              <a:t>readdir()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0" y="3904487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Used by: Create / Remove Directory; List Directory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577840" y="4334256"/>
            <a:ext cx="6035040" cy="132588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5715000" y="4471416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FaInfoCircl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4585716"/>
            <a:ext cx="228600" cy="2286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309360" y="4443984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8F1D28"/>
                </a:solidFill>
              </a:rPr>
              <a:t>Metadata and Deletion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760720" y="4974336"/>
            <a:ext cx="886968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C00000"/>
                </a:solidFill>
              </a:rPr>
              <a:t>stat()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39128" y="4974336"/>
            <a:ext cx="1097280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C00000"/>
                </a:solidFill>
              </a:rPr>
              <a:t>unlink()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0" y="5340096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Used by: View File Information; Delete File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585216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</a:rPr>
              <a:t>Typical calls behind each menu operation; see src/filesystem/.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/>
          <p:nvPr/>
        </p:nvSpPr>
        <p:spPr>
          <a:xfrm>
            <a:off x="2624328" y="219456"/>
            <a:ext cx="6949440" cy="521207"/>
          </a:xfrm>
          <a:prstGeom prst="roundRect">
            <a:avLst>
              <a:gd name="adj" fmla="val 1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Modules and Features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0CFDE-CD93-201B-A399-23510E8E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10/31/2026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97D3-BC04-F1C9-00E9-94B0738C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8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08863" y="1188720"/>
            <a:ext cx="2103120" cy="429768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40383" y="1371600"/>
            <a:ext cx="640080" cy="6400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aFolderOpe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403" y="1531620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0303" y="2103120"/>
            <a:ext cx="1920239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8F1D28"/>
                </a:solidFill>
              </a:rPr>
              <a:t>File and Directory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0343" y="2926080"/>
            <a:ext cx="1280160" cy="310896"/>
          </a:xfrm>
          <a:prstGeom prst="roundRect">
            <a:avLst>
              <a:gd name="adj" fmla="val 4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Menu 1 –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023" y="3429000"/>
            <a:ext cx="1828799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62626"/>
                </a:solidFill>
              </a:rPr>
              <a:t>List, create, write, read and delete files</a:t>
            </a:r>
          </a:p>
          <a:p>
            <a:pPr marL="182880" indent="-182880" algn="l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62626"/>
                </a:solidFill>
              </a:rPr>
              <a:t>Create, remove and change directories</a:t>
            </a:r>
          </a:p>
          <a:p>
            <a:pPr marL="182880" indent="-182880" algn="l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62626"/>
                </a:solidFill>
              </a:rPr>
              <a:t>File information and lseek()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6575" y="1188720"/>
            <a:ext cx="210312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08095" y="1371600"/>
            <a:ext cx="640080" cy="6400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Cog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8115" y="1531620"/>
            <a:ext cx="320040" cy="320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868015" y="2103120"/>
            <a:ext cx="1920239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8F1D28"/>
                </a:solidFill>
              </a:rPr>
              <a:t>Process 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88055" y="2926080"/>
            <a:ext cx="1280160" cy="310896"/>
          </a:xfrm>
          <a:prstGeom prst="roundRect">
            <a:avLst>
              <a:gd name="adj" fmla="val 4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Menu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3735" y="3429000"/>
            <a:ext cx="1828799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62626"/>
                </a:solidFill>
              </a:rPr>
              <a:t>Dedicated menu module</a:t>
            </a:r>
          </a:p>
          <a:p>
            <a:pPr marL="182880" indent="-182880" algn="l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62626"/>
                </a:solidFill>
              </a:rPr>
              <a:t>Demonstrates process-related OS concepts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4287" y="1188720"/>
            <a:ext cx="210312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775807" y="1371600"/>
            <a:ext cx="640080" cy="6400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aExchangeA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827" y="1531620"/>
            <a:ext cx="320040" cy="3200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35727" y="2103120"/>
            <a:ext cx="1920239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8F1D28"/>
                </a:solidFill>
              </a:rPr>
              <a:t>Inter-Process Communication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55767" y="2926080"/>
            <a:ext cx="1280160" cy="310896"/>
          </a:xfrm>
          <a:prstGeom prst="roundRect">
            <a:avLst>
              <a:gd name="adj" fmla="val 4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Menu 13 – 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1447" y="3429000"/>
            <a:ext cx="1828799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62626"/>
                </a:solidFill>
              </a:rPr>
              <a:t>Anonymous pipes</a:t>
            </a:r>
          </a:p>
          <a:p>
            <a:pPr marL="182880" indent="-182880" algn="l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62626"/>
                </a:solidFill>
              </a:rPr>
              <a:t>Named pipes (FIFOs)</a:t>
            </a:r>
          </a:p>
          <a:p>
            <a:pPr marL="182880" indent="-182880" algn="l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62626"/>
                </a:solidFill>
              </a:rPr>
              <a:t>Signal communication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1999" y="1188720"/>
            <a:ext cx="210312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043519" y="1371600"/>
            <a:ext cx="640080" cy="6400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FaMemory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3539" y="1531620"/>
            <a:ext cx="320040" cy="3200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403439" y="2103120"/>
            <a:ext cx="1920239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8F1D28"/>
                </a:solidFill>
              </a:rPr>
              <a:t>Memory Management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3479" y="2926080"/>
            <a:ext cx="1280160" cy="310896"/>
          </a:xfrm>
          <a:prstGeom prst="roundRect">
            <a:avLst>
              <a:gd name="adj" fmla="val 4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Menu 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9159" y="3429000"/>
            <a:ext cx="1828799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62626"/>
                </a:solidFill>
              </a:rPr>
              <a:t>Dedicated menu module</a:t>
            </a:r>
          </a:p>
          <a:p>
            <a:pPr marL="182880" indent="-182880" algn="l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62626"/>
                </a:solidFill>
              </a:rPr>
              <a:t>Explores memory-related OS concepts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79711" y="1188720"/>
            <a:ext cx="210312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311231" y="1371600"/>
            <a:ext cx="640080" cy="6400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FaCodeBranch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1251" y="1531620"/>
            <a:ext cx="320040" cy="3200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671151" y="2103120"/>
            <a:ext cx="1920239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8F1D28"/>
                </a:solidFill>
              </a:rPr>
              <a:t>Thread Synchronization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91191" y="2926080"/>
            <a:ext cx="1280160" cy="310896"/>
          </a:xfrm>
          <a:prstGeom prst="roundRect">
            <a:avLst>
              <a:gd name="adj" fmla="val 4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Menu 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16871" y="3429000"/>
            <a:ext cx="1828799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62626"/>
                </a:solidFill>
              </a:rPr>
              <a:t>Dedicated menu module</a:t>
            </a:r>
          </a:p>
          <a:p>
            <a:pPr marL="182880" indent="-182880" algn="l">
              <a:spcAft>
                <a:spcPts val="500"/>
              </a:spcAft>
              <a:buClr>
                <a:srgbClr val="C00000"/>
              </a:buClr>
              <a:buChar char="•"/>
            </a:pPr>
            <a:r>
              <a:rPr sz="1300" b="0" i="0">
                <a:solidFill>
                  <a:srgbClr val="262626"/>
                </a:solidFill>
              </a:rPr>
              <a:t>Thread-related functionality and concurrency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66928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</a:rPr>
              <a:t>Primary focus: </a:t>
            </a:r>
            <a:r>
              <a:rPr sz="1400" b="0" i="0">
                <a:solidFill>
                  <a:srgbClr val="262626"/>
                </a:solidFill>
              </a:rPr>
              <a:t>File System Explorer (menu 1 – 11).  Menu option 18 exits the application.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/>
          <p:nvPr/>
        </p:nvSpPr>
        <p:spPr>
          <a:xfrm>
            <a:off x="2624328" y="219456"/>
            <a:ext cx="6949440" cy="521207"/>
          </a:xfrm>
          <a:prstGeom prst="roundRect">
            <a:avLst>
              <a:gd name="adj" fmla="val 1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File and Directory Management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0CFDE-CD93-201B-A399-23510E8E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10/31/2026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97D3-BC04-F1C9-00E9-94B0738C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9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09447" y="1097280"/>
            <a:ext cx="260604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6607" y="1261872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aListUl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7" y="1387601"/>
            <a:ext cx="251460" cy="25146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2758287" y="1188720"/>
            <a:ext cx="329184" cy="329184"/>
          </a:xfrm>
          <a:prstGeom prst="ellipse">
            <a:avLst/>
          </a:prstGeom>
          <a:solidFill>
            <a:srgbClr val="8F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607" y="1847088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8F1D28"/>
                </a:solidFill>
              </a:rPr>
              <a:t>List Directory</a:t>
            </a:r>
          </a:p>
          <a:p>
            <a:pPr algn="l"/>
            <a:r>
              <a:rPr sz="1200" b="0" i="0">
                <a:solidFill>
                  <a:srgbClr val="595959"/>
                </a:solidFill>
              </a:rPr>
              <a:t>Display directory entries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8367" y="1097280"/>
            <a:ext cx="260604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535527" y="1261872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FaFileMedical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257" y="1387601"/>
            <a:ext cx="251460" cy="25146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547207" y="1188720"/>
            <a:ext cx="329184" cy="329184"/>
          </a:xfrm>
          <a:prstGeom prst="ellipse">
            <a:avLst/>
          </a:prstGeom>
          <a:solidFill>
            <a:srgbClr val="8F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5527" y="1847088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8F1D28"/>
                </a:solidFill>
              </a:rPr>
              <a:t>Create File</a:t>
            </a:r>
          </a:p>
          <a:p>
            <a:pPr algn="l"/>
            <a:r>
              <a:rPr sz="1200" b="0" i="0">
                <a:solidFill>
                  <a:srgbClr val="595959"/>
                </a:solidFill>
              </a:rPr>
              <a:t>Create a new file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7287" y="1097280"/>
            <a:ext cx="260604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324447" y="1261872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FaPe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177" y="1387601"/>
            <a:ext cx="251460" cy="251460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8336127" y="1188720"/>
            <a:ext cx="329184" cy="329184"/>
          </a:xfrm>
          <a:prstGeom prst="ellipse">
            <a:avLst/>
          </a:prstGeom>
          <a:solidFill>
            <a:srgbClr val="8F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1847088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8F1D28"/>
                </a:solidFill>
              </a:rPr>
              <a:t>Write File</a:t>
            </a:r>
          </a:p>
          <a:p>
            <a:pPr algn="l"/>
            <a:r>
              <a:rPr sz="1200" b="0" i="0">
                <a:solidFill>
                  <a:srgbClr val="595959"/>
                </a:solidFill>
              </a:rPr>
              <a:t>Write data to a 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6207" y="1097280"/>
            <a:ext cx="260604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113367" y="1261872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FaBookOpe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097" y="1387601"/>
            <a:ext cx="251460" cy="251460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11125047" y="1188720"/>
            <a:ext cx="329184" cy="329184"/>
          </a:xfrm>
          <a:prstGeom prst="ellipse">
            <a:avLst/>
          </a:prstGeom>
          <a:solidFill>
            <a:srgbClr val="8F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3367" y="1847088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8F1D28"/>
                </a:solidFill>
              </a:rPr>
              <a:t>Read File</a:t>
            </a:r>
          </a:p>
          <a:p>
            <a:pPr algn="l"/>
            <a:r>
              <a:rPr sz="1200" b="0" i="0">
                <a:solidFill>
                  <a:srgbClr val="595959"/>
                </a:solidFill>
              </a:rPr>
              <a:t>Read file contents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447" y="2670048"/>
            <a:ext cx="260604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46607" y="283464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FaFolderPlu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37" y="2960370"/>
            <a:ext cx="251460" cy="251460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2758287" y="2761488"/>
            <a:ext cx="329184" cy="329184"/>
          </a:xfrm>
          <a:prstGeom prst="ellipse">
            <a:avLst/>
          </a:prstGeom>
          <a:solidFill>
            <a:srgbClr val="8F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607" y="3419856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8F1D28"/>
                </a:solidFill>
              </a:rPr>
              <a:t>Create Directory</a:t>
            </a:r>
          </a:p>
          <a:p>
            <a:pPr algn="l"/>
            <a:r>
              <a:rPr sz="1200" b="0" i="0">
                <a:solidFill>
                  <a:srgbClr val="595959"/>
                </a:solidFill>
              </a:rPr>
              <a:t>Make a new directory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98367" y="2670048"/>
            <a:ext cx="260604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535527" y="283464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FaFolderMinu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1257" y="2960370"/>
            <a:ext cx="251460" cy="251460"/>
          </a:xfrm>
          <a:prstGeom prst="rect">
            <a:avLst/>
          </a:prstGeom>
        </p:spPr>
      </p:pic>
      <p:sp>
        <p:nvSpPr>
          <p:cNvPr id="35" name="Oval 34"/>
          <p:cNvSpPr/>
          <p:nvPr/>
        </p:nvSpPr>
        <p:spPr>
          <a:xfrm>
            <a:off x="5547207" y="2761488"/>
            <a:ext cx="329184" cy="329184"/>
          </a:xfrm>
          <a:prstGeom prst="ellipse">
            <a:avLst/>
          </a:prstGeom>
          <a:solidFill>
            <a:srgbClr val="8F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35527" y="3419856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8F1D28"/>
                </a:solidFill>
              </a:rPr>
              <a:t>Remove Directory</a:t>
            </a:r>
          </a:p>
          <a:p>
            <a:pPr algn="l"/>
            <a:r>
              <a:rPr sz="1200" b="0" i="0">
                <a:solidFill>
                  <a:srgbClr val="595959"/>
                </a:solidFill>
              </a:rPr>
              <a:t>Remove an empty directory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87287" y="2670048"/>
            <a:ext cx="260604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324447" y="283464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FaInfoCircl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0177" y="2960370"/>
            <a:ext cx="251460" cy="251460"/>
          </a:xfrm>
          <a:prstGeom prst="rect">
            <a:avLst/>
          </a:prstGeom>
        </p:spPr>
      </p:pic>
      <p:sp>
        <p:nvSpPr>
          <p:cNvPr id="40" name="Oval 39"/>
          <p:cNvSpPr/>
          <p:nvPr/>
        </p:nvSpPr>
        <p:spPr>
          <a:xfrm>
            <a:off x="8336127" y="2761488"/>
            <a:ext cx="329184" cy="329184"/>
          </a:xfrm>
          <a:prstGeom prst="ellipse">
            <a:avLst/>
          </a:prstGeom>
          <a:solidFill>
            <a:srgbClr val="8F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4447" y="3419856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8F1D28"/>
                </a:solidFill>
              </a:rPr>
              <a:t>View File Information</a:t>
            </a:r>
          </a:p>
          <a:p>
            <a:pPr algn="l"/>
            <a:r>
              <a:rPr sz="1200" b="0" i="0">
                <a:solidFill>
                  <a:srgbClr val="595959"/>
                </a:solidFill>
              </a:rPr>
              <a:t>Show file metadata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76207" y="2670048"/>
            <a:ext cx="260604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113367" y="283464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FaTrashAlt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9097" y="2960370"/>
            <a:ext cx="251460" cy="251460"/>
          </a:xfrm>
          <a:prstGeom prst="rect">
            <a:avLst/>
          </a:prstGeom>
        </p:spPr>
      </p:pic>
      <p:sp>
        <p:nvSpPr>
          <p:cNvPr id="45" name="Oval 44"/>
          <p:cNvSpPr/>
          <p:nvPr/>
        </p:nvSpPr>
        <p:spPr>
          <a:xfrm>
            <a:off x="11125047" y="2761488"/>
            <a:ext cx="329184" cy="329184"/>
          </a:xfrm>
          <a:prstGeom prst="ellipse">
            <a:avLst/>
          </a:prstGeom>
          <a:solidFill>
            <a:srgbClr val="8F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13367" y="3419856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8F1D28"/>
                </a:solidFill>
              </a:rPr>
              <a:t>Delete File</a:t>
            </a:r>
          </a:p>
          <a:p>
            <a:pPr algn="l"/>
            <a:r>
              <a:rPr sz="1200" b="0" i="0">
                <a:solidFill>
                  <a:srgbClr val="595959"/>
                </a:solidFill>
              </a:rPr>
              <a:t>Remove a file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9447" y="4242816"/>
            <a:ext cx="260604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46607" y="4407407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FaMapMarkerAlt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2337" y="4533138"/>
            <a:ext cx="251460" cy="251460"/>
          </a:xfrm>
          <a:prstGeom prst="rect">
            <a:avLst/>
          </a:prstGeom>
        </p:spPr>
      </p:pic>
      <p:sp>
        <p:nvSpPr>
          <p:cNvPr id="50" name="Oval 49"/>
          <p:cNvSpPr/>
          <p:nvPr/>
        </p:nvSpPr>
        <p:spPr>
          <a:xfrm>
            <a:off x="2758287" y="4334255"/>
            <a:ext cx="329184" cy="329184"/>
          </a:xfrm>
          <a:prstGeom prst="ellipse">
            <a:avLst/>
          </a:prstGeom>
          <a:solidFill>
            <a:srgbClr val="8F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6607" y="4992624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8F1D28"/>
                </a:solidFill>
              </a:rPr>
              <a:t>Show Current Directory</a:t>
            </a:r>
          </a:p>
          <a:p>
            <a:pPr algn="l"/>
            <a:r>
              <a:rPr sz="1200" b="0" i="0">
                <a:solidFill>
                  <a:srgbClr val="595959"/>
                </a:solidFill>
              </a:rPr>
              <a:t>Display working directory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398367" y="4242816"/>
            <a:ext cx="260604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3535527" y="4407407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FaFolderOpen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61257" y="4533138"/>
            <a:ext cx="251460" cy="251460"/>
          </a:xfrm>
          <a:prstGeom prst="rect">
            <a:avLst/>
          </a:prstGeom>
        </p:spPr>
      </p:pic>
      <p:sp>
        <p:nvSpPr>
          <p:cNvPr id="55" name="Oval 54"/>
          <p:cNvSpPr/>
          <p:nvPr/>
        </p:nvSpPr>
        <p:spPr>
          <a:xfrm>
            <a:off x="5547207" y="4334255"/>
            <a:ext cx="329184" cy="329184"/>
          </a:xfrm>
          <a:prstGeom prst="ellipse">
            <a:avLst/>
          </a:prstGeom>
          <a:solidFill>
            <a:srgbClr val="8F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35527" y="4992624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8F1D28"/>
                </a:solidFill>
              </a:rPr>
              <a:t>Change Directory</a:t>
            </a:r>
          </a:p>
          <a:p>
            <a:pPr algn="l"/>
            <a:r>
              <a:rPr sz="1200" b="0" i="0">
                <a:solidFill>
                  <a:srgbClr val="595959"/>
                </a:solidFill>
              </a:rPr>
              <a:t>Navigate to another directory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87287" y="4242816"/>
            <a:ext cx="260604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324447" y="4407407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9" name="Picture 58" descr="FaArrowsAltH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50177" y="4533138"/>
            <a:ext cx="251460" cy="251460"/>
          </a:xfrm>
          <a:prstGeom prst="rect">
            <a:avLst/>
          </a:prstGeom>
        </p:spPr>
      </p:pic>
      <p:sp>
        <p:nvSpPr>
          <p:cNvPr id="60" name="Oval 59"/>
          <p:cNvSpPr/>
          <p:nvPr/>
        </p:nvSpPr>
        <p:spPr>
          <a:xfrm>
            <a:off x="8336127" y="4334255"/>
            <a:ext cx="329184" cy="329184"/>
          </a:xfrm>
          <a:prstGeom prst="ellipse">
            <a:avLst/>
          </a:prstGeom>
          <a:solidFill>
            <a:srgbClr val="8F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24447" y="4992624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8F1D28"/>
                </a:solidFill>
              </a:rPr>
              <a:t>File Position (lseek)</a:t>
            </a:r>
          </a:p>
          <a:p>
            <a:pPr algn="l"/>
            <a:r>
              <a:rPr sz="1200" b="0" i="0">
                <a:solidFill>
                  <a:srgbClr val="595959"/>
                </a:solidFill>
              </a:rPr>
              <a:t>Move the file offset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76207" y="4242816"/>
            <a:ext cx="2606040" cy="1389888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113367" y="4334255"/>
            <a:ext cx="2331720" cy="12070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CO-5 Primary Module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src/filesystem/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file_operations.c, directory_operations.c, file_info.c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/>
          <p:nvPr/>
        </p:nvSpPr>
        <p:spPr>
          <a:xfrm>
            <a:off x="2624328" y="219456"/>
            <a:ext cx="6949440" cy="521207"/>
          </a:xfrm>
          <a:prstGeom prst="roundRect">
            <a:avLst>
              <a:gd name="adj" fmla="val 1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Process Management and IPC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0CFDE-CD93-201B-A399-23510E8E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10/31/2026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97D3-BC04-F1C9-00E9-94B0738C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10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10908792" cy="86868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60" y="128016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aCog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1405889"/>
            <a:ext cx="251460" cy="2514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08760" y="1097280"/>
            <a:ext cx="98755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8F1D28"/>
                </a:solidFill>
              </a:rPr>
              <a:t>Process Management (Menu 12): </a:t>
            </a:r>
            <a:r>
              <a:rPr sz="1400" b="0" i="0">
                <a:solidFill>
                  <a:srgbClr val="262626"/>
                </a:solidFill>
              </a:rPr>
              <a:t>dedicated module for process-related OS concepts such as process abstraction, lifecycle and control.</a:t>
            </a:r>
          </a:p>
          <a:p>
            <a:pPr algn="l"/>
            <a:r>
              <a:rPr sz="1200" b="0" i="1">
                <a:solidFill>
                  <a:srgbClr val="595959"/>
                </a:solidFill>
              </a:rPr>
              <a:t>Specific calls (fork, exec, wait) are claimed only if present in the source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94560"/>
            <a:ext cx="352044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FaProjectDiagram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2457450"/>
            <a:ext cx="251460" cy="2514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17319" y="2286000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8F1D28"/>
                </a:solidFill>
              </a:rPr>
              <a:t>Anonymous Pipe</a:t>
            </a:r>
          </a:p>
          <a:p>
            <a:pPr algn="l"/>
            <a:r>
              <a:rPr sz="1200" b="1" i="0">
                <a:solidFill>
                  <a:srgbClr val="C00000"/>
                </a:solidFill>
              </a:rPr>
              <a:t>Menu 13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" y="3108960"/>
            <a:ext cx="960120" cy="548640"/>
          </a:xfrm>
          <a:prstGeom prst="roundRect">
            <a:avLst>
              <a:gd name="adj" fmla="val 20000"/>
            </a:avLst>
          </a:prstGeom>
          <a:solidFill>
            <a:srgbClr val="E8EEF8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002060"/>
                </a:solidFill>
              </a:rPr>
              <a:t>Process 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3108960"/>
            <a:ext cx="960120" cy="548640"/>
          </a:xfrm>
          <a:prstGeom prst="roundRect">
            <a:avLst>
              <a:gd name="adj" fmla="val 20000"/>
            </a:avLst>
          </a:prstGeom>
          <a:solidFill>
            <a:srgbClr val="E8EEF8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002060"/>
                </a:solidFill>
              </a:rPr>
              <a:t>Process B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874519" y="3108960"/>
            <a:ext cx="1051560" cy="54864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pipe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886200"/>
            <a:ext cx="3154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Unidirectional communication channel between processes.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89204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95959"/>
                </a:solidFill>
              </a:rPr>
              <a:t>Source files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59" y="5166360"/>
            <a:ext cx="3154680" cy="64008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l"/>
            <a:r>
              <a:rPr sz="1100" b="0" i="0">
                <a:solidFill>
                  <a:srgbClr val="002060"/>
                </a:solidFill>
              </a:rPr>
              <a:t>src/ipc/pipe_operations.c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4256" y="2194560"/>
            <a:ext cx="352044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471416" y="233172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FaExchangeA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146" y="2457450"/>
            <a:ext cx="251460" cy="2514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111496" y="2286000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8F1D28"/>
                </a:solidFill>
              </a:rPr>
              <a:t>Named Pipe (FIFO)</a:t>
            </a:r>
          </a:p>
          <a:p>
            <a:pPr algn="l"/>
            <a:r>
              <a:rPr sz="1200" b="1" i="0">
                <a:solidFill>
                  <a:srgbClr val="C00000"/>
                </a:solidFill>
              </a:rPr>
              <a:t>Menu 14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17136" y="3108960"/>
            <a:ext cx="960120" cy="548640"/>
          </a:xfrm>
          <a:prstGeom prst="roundRect">
            <a:avLst>
              <a:gd name="adj" fmla="val 20000"/>
            </a:avLst>
          </a:prstGeom>
          <a:solidFill>
            <a:srgbClr val="E8EEF8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002060"/>
                </a:solidFill>
              </a:rPr>
              <a:t>Sender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11696" y="3108960"/>
            <a:ext cx="960120" cy="548640"/>
          </a:xfrm>
          <a:prstGeom prst="roundRect">
            <a:avLst>
              <a:gd name="adj" fmla="val 20000"/>
            </a:avLst>
          </a:prstGeom>
          <a:solidFill>
            <a:srgbClr val="E8EEF8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002060"/>
                </a:solidFill>
              </a:rPr>
              <a:t>Receiver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568696" y="3108960"/>
            <a:ext cx="1051560" cy="54864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FIFO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3886200"/>
            <a:ext cx="3154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A named channel in the file system, usable by unrelated processes.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7136" y="489204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95959"/>
                </a:solidFill>
              </a:rPr>
              <a:t>Source files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17136" y="5166360"/>
            <a:ext cx="3154680" cy="64008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l"/>
            <a:r>
              <a:rPr sz="1100" b="0" i="0">
                <a:solidFill>
                  <a:srgbClr val="002060"/>
                </a:solidFill>
              </a:rPr>
              <a:t>src/ipc/fifo_operations.c, fifo_sender.c, fifo_receiver.c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28431" y="2194560"/>
            <a:ext cx="352044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165592" y="233172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FaBroadcastTowe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1321" y="2457450"/>
            <a:ext cx="251460" cy="2514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805672" y="2286000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8F1D28"/>
                </a:solidFill>
              </a:rPr>
              <a:t>Signal Communication</a:t>
            </a:r>
          </a:p>
          <a:p>
            <a:pPr algn="l"/>
            <a:r>
              <a:rPr sz="1200" b="1" i="0">
                <a:solidFill>
                  <a:srgbClr val="C00000"/>
                </a:solidFill>
              </a:rPr>
              <a:t>Menu 15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11311" y="3108960"/>
            <a:ext cx="960120" cy="548640"/>
          </a:xfrm>
          <a:prstGeom prst="roundRect">
            <a:avLst>
              <a:gd name="adj" fmla="val 20000"/>
            </a:avLst>
          </a:prstGeom>
          <a:solidFill>
            <a:srgbClr val="E8EEF8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002060"/>
                </a:solidFill>
              </a:rPr>
              <a:t>Sender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05872" y="3108960"/>
            <a:ext cx="960120" cy="548640"/>
          </a:xfrm>
          <a:prstGeom prst="roundRect">
            <a:avLst>
              <a:gd name="adj" fmla="val 20000"/>
            </a:avLst>
          </a:prstGeom>
          <a:solidFill>
            <a:srgbClr val="E8EEF8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002060"/>
                </a:solidFill>
              </a:rPr>
              <a:t>Process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262872" y="3108960"/>
            <a:ext cx="1051560" cy="54864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1" y="3886200"/>
            <a:ext cx="3154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Asynchronous notifications delivered to a process.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1" y="489204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95959"/>
                </a:solidFill>
              </a:rPr>
              <a:t>Source files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11311" y="5166360"/>
            <a:ext cx="3154680" cy="64008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l"/>
            <a:r>
              <a:rPr sz="1100" b="0" i="0">
                <a:solidFill>
                  <a:srgbClr val="002060"/>
                </a:solidFill>
              </a:rPr>
              <a:t>src/ipc/signal_operations.c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/>
          <p:nvPr/>
        </p:nvSpPr>
        <p:spPr>
          <a:xfrm>
            <a:off x="2624328" y="219456"/>
            <a:ext cx="6949440" cy="521207"/>
          </a:xfrm>
          <a:prstGeom prst="roundRect">
            <a:avLst>
              <a:gd name="adj" fmla="val 1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Memory and Thread Synchronization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0CFDE-CD93-201B-A399-23510E8E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10/31/2026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97D3-BC04-F1C9-00E9-94B0738C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11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94360" y="1097280"/>
            <a:ext cx="548640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1280160"/>
            <a:ext cx="594360" cy="5943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aMemory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1428750"/>
            <a:ext cx="297180" cy="2971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54480" y="1234440"/>
            <a:ext cx="43891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8F1D28"/>
                </a:solidFill>
              </a:rPr>
              <a:t>Memory Management</a:t>
            </a:r>
          </a:p>
          <a:p>
            <a:pPr algn="l"/>
            <a:r>
              <a:rPr sz="1200" b="1" i="0">
                <a:solidFill>
                  <a:srgbClr val="C00000"/>
                </a:solidFill>
              </a:rPr>
              <a:t>Menu option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5740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Dedicated module for exploring memory-related operating-system concepts and how Linux processes use memory.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</a:rPr>
              <a:t>Related OS concepts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154680"/>
            <a:ext cx="1618488" cy="329184"/>
          </a:xfrm>
          <a:prstGeom prst="roundRect">
            <a:avLst>
              <a:gd name="adj" fmla="val 40000"/>
            </a:avLst>
          </a:prstGeom>
          <a:solidFill>
            <a:srgbClr val="FBEAEA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>
                <a:solidFill>
                  <a:srgbClr val="8F1D28"/>
                </a:solidFill>
              </a:rPr>
              <a:t>Virtual 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32888" y="3154680"/>
            <a:ext cx="2194560" cy="329184"/>
          </a:xfrm>
          <a:prstGeom prst="roundRect">
            <a:avLst>
              <a:gd name="adj" fmla="val 40000"/>
            </a:avLst>
          </a:prstGeom>
          <a:solidFill>
            <a:srgbClr val="FBEAEA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>
                <a:solidFill>
                  <a:srgbClr val="8F1D28"/>
                </a:solidFill>
              </a:rPr>
              <a:t>Address space layout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557016"/>
            <a:ext cx="1330452" cy="329184"/>
          </a:xfrm>
          <a:prstGeom prst="roundRect">
            <a:avLst>
              <a:gd name="adj" fmla="val 40000"/>
            </a:avLst>
          </a:prstGeom>
          <a:solidFill>
            <a:srgbClr val="FBEAEA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>
                <a:solidFill>
                  <a:srgbClr val="8F1D28"/>
                </a:solidFill>
              </a:rPr>
              <a:t>Page tables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4852" y="3557016"/>
            <a:ext cx="1330452" cy="329184"/>
          </a:xfrm>
          <a:prstGeom prst="roundRect">
            <a:avLst>
              <a:gd name="adj" fmla="val 40000"/>
            </a:avLst>
          </a:prstGeom>
          <a:solidFill>
            <a:srgbClr val="FBEAEA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>
                <a:solidFill>
                  <a:srgbClr val="8F1D28"/>
                </a:solidFill>
              </a:rPr>
              <a:t>Page faults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66744" y="3557016"/>
            <a:ext cx="2002536" cy="329184"/>
          </a:xfrm>
          <a:prstGeom prst="roundRect">
            <a:avLst>
              <a:gd name="adj" fmla="val 40000"/>
            </a:avLst>
          </a:prstGeom>
          <a:solidFill>
            <a:srgbClr val="FBEAEA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>
                <a:solidFill>
                  <a:srgbClr val="8F1D28"/>
                </a:solidFill>
              </a:rPr>
              <a:t>Dynamic allocation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959352"/>
            <a:ext cx="1522476" cy="329184"/>
          </a:xfrm>
          <a:prstGeom prst="roundRect">
            <a:avLst>
              <a:gd name="adj" fmla="val 40000"/>
            </a:avLst>
          </a:prstGeom>
          <a:solidFill>
            <a:srgbClr val="FBEAEA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>
                <a:solidFill>
                  <a:srgbClr val="8F1D28"/>
                </a:solidFill>
              </a:rPr>
              <a:t>Copy-on-write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548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002060"/>
                </a:solidFill>
              </a:rPr>
              <a:t>Source: src/memory/memory_operations.c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08192" y="1097280"/>
            <a:ext cx="548640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291072" y="1280160"/>
            <a:ext cx="594360" cy="5943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FaCodeBran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662" y="1428750"/>
            <a:ext cx="297180" cy="2971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68312" y="1234440"/>
            <a:ext cx="43891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8F1D28"/>
                </a:solidFill>
              </a:rPr>
              <a:t>Thread Synchronization</a:t>
            </a:r>
          </a:p>
          <a:p>
            <a:pPr algn="l"/>
            <a:r>
              <a:rPr sz="1200" b="1" i="0">
                <a:solidFill>
                  <a:srgbClr val="C00000"/>
                </a:solidFill>
              </a:rPr>
              <a:t>Menu option 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205740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Dedicated module providing the project's thread-related functionality and demonstrating concurrency in Linux.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2834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</a:rPr>
              <a:t>Related OS concepts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36792" y="3154680"/>
            <a:ext cx="2194560" cy="329184"/>
          </a:xfrm>
          <a:prstGeom prst="roundRect">
            <a:avLst>
              <a:gd name="adj" fmla="val 40000"/>
            </a:avLst>
          </a:prstGeom>
          <a:solidFill>
            <a:srgbClr val="FBEAEA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>
                <a:solidFill>
                  <a:srgbClr val="8F1D28"/>
                </a:solidFill>
              </a:rPr>
              <a:t>Threads vs processes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22792" y="3154680"/>
            <a:ext cx="1522476" cy="329184"/>
          </a:xfrm>
          <a:prstGeom prst="roundRect">
            <a:avLst>
              <a:gd name="adj" fmla="val 40000"/>
            </a:avLst>
          </a:prstGeom>
          <a:solidFill>
            <a:srgbClr val="FBEAEA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>
                <a:solidFill>
                  <a:srgbClr val="8F1D28"/>
                </a:solidFill>
              </a:rPr>
              <a:t>POSIX threads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36792" y="3557016"/>
            <a:ext cx="1714500" cy="329184"/>
          </a:xfrm>
          <a:prstGeom prst="roundRect">
            <a:avLst>
              <a:gd name="adj" fmla="val 40000"/>
            </a:avLst>
          </a:prstGeom>
          <a:solidFill>
            <a:srgbClr val="FBEAEA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>
                <a:solidFill>
                  <a:srgbClr val="8F1D28"/>
                </a:solidFill>
              </a:rPr>
              <a:t>Race conditions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42731" y="3557016"/>
            <a:ext cx="946403" cy="329184"/>
          </a:xfrm>
          <a:prstGeom prst="roundRect">
            <a:avLst>
              <a:gd name="adj" fmla="val 40000"/>
            </a:avLst>
          </a:prstGeom>
          <a:solidFill>
            <a:srgbClr val="FBEAEA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>
                <a:solidFill>
                  <a:srgbClr val="8F1D28"/>
                </a:solidFill>
              </a:rPr>
              <a:t>Mutexes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0576" y="3557016"/>
            <a:ext cx="2098548" cy="329184"/>
          </a:xfrm>
          <a:prstGeom prst="roundRect">
            <a:avLst>
              <a:gd name="adj" fmla="val 40000"/>
            </a:avLst>
          </a:prstGeom>
          <a:solidFill>
            <a:srgbClr val="FBEAEA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>
                <a:solidFill>
                  <a:srgbClr val="8F1D28"/>
                </a:solidFill>
              </a:rPr>
              <a:t>Condition variables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36792" y="3959352"/>
            <a:ext cx="1234440" cy="329184"/>
          </a:xfrm>
          <a:prstGeom prst="roundRect">
            <a:avLst>
              <a:gd name="adj" fmla="val 40000"/>
            </a:avLst>
          </a:prstGeom>
          <a:solidFill>
            <a:srgbClr val="FBEAEA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>
                <a:solidFill>
                  <a:srgbClr val="8F1D28"/>
                </a:solidFill>
              </a:rPr>
              <a:t>Semaphores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47548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002060"/>
                </a:solidFill>
              </a:rPr>
              <a:t>Header: src/include/thread_operations.h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440680"/>
            <a:ext cx="11000232" cy="731520"/>
          </a:xfrm>
          <a:prstGeom prst="roundRect">
            <a:avLst>
              <a:gd name="adj" fmla="val 15000"/>
            </a:avLst>
          </a:prstGeom>
          <a:solidFill>
            <a:srgbClr val="E8EEF8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</a:rPr>
              <a:t>Implementation note: </a:t>
            </a:r>
            <a:r>
              <a:rPr sz="1300" b="0" i="0">
                <a:solidFill>
                  <a:srgbClr val="262626"/>
                </a:solidFill>
              </a:rPr>
              <a:t>the concepts shown are related syllabus topics. Specific mechanisms (e.g. page tables, mutexes, semaphores) are not claimed unless verified in the source code.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/>
          <p:nvPr/>
        </p:nvSpPr>
        <p:spPr>
          <a:xfrm>
            <a:off x="2624328" y="219456"/>
            <a:ext cx="6949440" cy="521207"/>
          </a:xfrm>
          <a:prstGeom prst="roundRect">
            <a:avLst>
              <a:gd name="adj" fmla="val 1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Technologies and System Calls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0CFDE-CD93-201B-A399-23510E8E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10/31/2026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97D3-BC04-F1C9-00E9-94B0738C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12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4114800" cy="60350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0080" y="1170432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aCod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284732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4440" y="1097280"/>
            <a:ext cx="33832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8F1D28"/>
                </a:solidFill>
              </a:rPr>
              <a:t>C Programming</a:t>
            </a:r>
          </a:p>
          <a:p>
            <a:pPr algn="l"/>
            <a:r>
              <a:rPr sz="1100" b="0" i="0">
                <a:solidFill>
                  <a:srgbClr val="595959"/>
                </a:solidFill>
              </a:rPr>
              <a:t>Application development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92224"/>
            <a:ext cx="4114800" cy="60350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080" y="1865376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FaLinux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979676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34440" y="1792224"/>
            <a:ext cx="33832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8F1D28"/>
                </a:solidFill>
              </a:rPr>
              <a:t>Linux</a:t>
            </a:r>
          </a:p>
          <a:p>
            <a:pPr algn="l"/>
            <a:r>
              <a:rPr sz="1100" b="0" i="0">
                <a:solidFill>
                  <a:srgbClr val="595959"/>
                </a:solidFill>
              </a:rPr>
              <a:t>Operating system environment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87168"/>
            <a:ext cx="4114800" cy="60350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FaTool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267462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34440" y="2487168"/>
            <a:ext cx="33832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8F1D28"/>
                </a:solidFill>
              </a:rPr>
              <a:t>GCC</a:t>
            </a:r>
          </a:p>
          <a:p>
            <a:pPr algn="l"/>
            <a:r>
              <a:rPr sz="1100" b="0" i="0">
                <a:solidFill>
                  <a:srgbClr val="595959"/>
                </a:solidFill>
              </a:rPr>
              <a:t>C compiler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182112"/>
            <a:ext cx="4114800" cy="60350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0080" y="3255264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aCog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3369564"/>
            <a:ext cx="228600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34440" y="3182112"/>
            <a:ext cx="33832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8F1D28"/>
                </a:solidFill>
              </a:rPr>
              <a:t>GNU Make</a:t>
            </a:r>
          </a:p>
          <a:p>
            <a:pPr algn="l"/>
            <a:r>
              <a:rPr sz="1100" b="0" i="0">
                <a:solidFill>
                  <a:srgbClr val="595959"/>
                </a:solidFill>
              </a:rPr>
              <a:t>Build automation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877056"/>
            <a:ext cx="4114800" cy="60350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0080" y="3950208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FaExchangeA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4064508"/>
            <a:ext cx="228600" cy="228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34440" y="3877056"/>
            <a:ext cx="33832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8F1D28"/>
                </a:solidFill>
              </a:rPr>
              <a:t>POSIX IPC</a:t>
            </a:r>
          </a:p>
          <a:p>
            <a:pPr algn="l"/>
            <a:r>
              <a:rPr sz="1100" b="0" i="0">
                <a:solidFill>
                  <a:srgbClr val="595959"/>
                </a:solidFill>
              </a:rPr>
              <a:t>Pipes, FIFOs, signals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572000"/>
            <a:ext cx="4114800" cy="60350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40080" y="4645152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FaCodeBranch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" y="4759452"/>
            <a:ext cx="228600" cy="228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34440" y="4572000"/>
            <a:ext cx="33832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8F1D28"/>
                </a:solidFill>
              </a:rPr>
              <a:t>POSIX Threads</a:t>
            </a:r>
          </a:p>
          <a:p>
            <a:pPr algn="l"/>
            <a:r>
              <a:rPr sz="1100" b="0" i="0">
                <a:solidFill>
                  <a:srgbClr val="595959"/>
                </a:solidFill>
              </a:rPr>
              <a:t>Thread functionality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266944"/>
            <a:ext cx="4114800" cy="60350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0080" y="5340096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FaGithub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" y="5454396"/>
            <a:ext cx="228600" cy="2286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234440" y="5266944"/>
            <a:ext cx="33832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8F1D28"/>
                </a:solidFill>
              </a:rPr>
              <a:t>Git and GitHub</a:t>
            </a:r>
          </a:p>
          <a:p>
            <a:pPr algn="l"/>
            <a:r>
              <a:rPr sz="1100" b="0" i="0">
                <a:solidFill>
                  <a:srgbClr val="595959"/>
                </a:solidFill>
              </a:rPr>
              <a:t>Version control and hosting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937760" y="1097280"/>
          <a:ext cx="6675120" cy="46085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System Call</a:t>
                      </a:r>
                    </a:p>
                  </a:txBody>
                  <a:tcPr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Menu Operation</a:t>
                      </a:r>
                    </a:p>
                  </a:txBody>
                  <a:tcPr marT="27432" marB="27432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</a:rPr>
                        <a:t>open()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Open or create a file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Create / Write / Read File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</a:rPr>
                        <a:t>read()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Read data from a file descriptor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Read File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</a:rPr>
                        <a:t>write()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Write data to a file descriptor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Write File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</a:rPr>
                        <a:t>close()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Release a file descriptor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File operations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</a:rPr>
                        <a:t>lseek()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Reposition the file offset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File Position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</a:rPr>
                        <a:t>mkdir()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Create a directory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Create Directory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</a:rPr>
                        <a:t>rmdir()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Remove an empty directory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Remove Directory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</a:rPr>
                        <a:t>opendir()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Open a directory stream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List Directory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</a:rPr>
                        <a:t>readdir()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Read directory entries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List Directory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</a:rPr>
                        <a:t>stat()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Retrieve file metadata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View File Information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</a:rPr>
                        <a:t>unlink()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Remove a file name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Delete File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4937760" y="5760720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</a:rPr>
              <a:t>Mapped from the menu operations; exact calls depend on the implementation in src/filesystem/.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/>
          <p:nvPr/>
        </p:nvSpPr>
        <p:spPr>
          <a:xfrm>
            <a:off x="2624328" y="219456"/>
            <a:ext cx="6949440" cy="521207"/>
          </a:xfrm>
          <a:prstGeom prst="roundRect">
            <a:avLst>
              <a:gd name="adj" fmla="val 1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Course Outcome Mapping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0CFDE-CD93-201B-A399-23510E8E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10/31/2026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97D3-BC04-F1C9-00E9-94B0738C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13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3931920" cy="489204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280160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C00000"/>
                </a:solidFill>
              </a:rPr>
              <a:t>PRIMARY COURSE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34747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CO-5</a:t>
            </a:r>
          </a:p>
          <a:p>
            <a:pPr algn="l"/>
            <a:r>
              <a:rPr sz="1600" b="1" i="0">
                <a:solidFill>
                  <a:srgbClr val="FFFFFF"/>
                </a:solidFill>
              </a:rPr>
              <a:t>File Systems, File Abstractions, and File I/O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47472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FFFFFF"/>
                </a:solidFill>
              </a:rPr>
              <a:t>File System Explorer, menu options 1 – 11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FFFFFF"/>
                </a:solidFill>
              </a:rPr>
              <a:t>File I/O, directory operations, metadata and lseek()</a:t>
            </a:r>
          </a:p>
          <a:p>
            <a:pPr algn="l"/>
            <a:r>
              <a:rPr sz="1400" b="0" i="0">
                <a:solidFill>
                  <a:srgbClr val="FFFFFF"/>
                </a:solidFill>
              </a:rPr>
              <a:t>Source: src/filesystem/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097280"/>
            <a:ext cx="685800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892040" y="1280160"/>
            <a:ext cx="868680" cy="512064"/>
          </a:xfrm>
          <a:prstGeom prst="roundRect">
            <a:avLst>
              <a:gd name="adj" fmla="val 25000"/>
            </a:avLst>
          </a:prstGeom>
          <a:solidFill>
            <a:srgbClr val="8F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CO-1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097280"/>
            <a:ext cx="3749039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8F1D28"/>
                </a:solidFill>
              </a:rPr>
              <a:t>OS as a Service Layer</a:t>
            </a:r>
          </a:p>
          <a:p>
            <a:pPr algn="l"/>
            <a:r>
              <a:rPr sz="1200" b="0" i="0">
                <a:solidFill>
                  <a:srgbClr val="595959"/>
                </a:solidFill>
              </a:rPr>
              <a:t>File and directory operations through OS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1371600"/>
            <a:ext cx="1691640" cy="329184"/>
          </a:xfrm>
          <a:prstGeom prst="roundRect">
            <a:avLst>
              <a:gd name="adj" fmla="val 40000"/>
            </a:avLst>
          </a:prstGeom>
          <a:solidFill>
            <a:srgbClr val="FBEAEA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8F1D28"/>
                </a:solidFill>
              </a:rPr>
              <a:t>Foundational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2084832"/>
            <a:ext cx="685800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92040" y="2267712"/>
            <a:ext cx="868680" cy="512064"/>
          </a:xfrm>
          <a:prstGeom prst="roundRect">
            <a:avLst>
              <a:gd name="adj" fmla="val 25000"/>
            </a:avLst>
          </a:prstGeom>
          <a:solidFill>
            <a:srgbClr val="8F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CO-2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084832"/>
            <a:ext cx="3749039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8F1D28"/>
                </a:solidFill>
              </a:rPr>
              <a:t>Processes and Process Control</a:t>
            </a:r>
          </a:p>
          <a:p>
            <a:pPr algn="l"/>
            <a:r>
              <a:rPr sz="1200" b="0" i="0">
                <a:solidFill>
                  <a:srgbClr val="595959"/>
                </a:solidFill>
              </a:rPr>
              <a:t>Process Management (menu 12)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2359152"/>
            <a:ext cx="1691640" cy="329184"/>
          </a:xfrm>
          <a:prstGeom prst="roundRect">
            <a:avLst>
              <a:gd name="adj" fmla="val 40000"/>
            </a:avLst>
          </a:prstGeom>
          <a:solidFill>
            <a:srgbClr val="FBEAEA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8F1D28"/>
                </a:solidFill>
              </a:rPr>
              <a:t>Additional module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072384"/>
            <a:ext cx="685800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892040" y="3255264"/>
            <a:ext cx="868680" cy="512064"/>
          </a:xfrm>
          <a:prstGeom prst="roundRect">
            <a:avLst>
              <a:gd name="adj" fmla="val 25000"/>
            </a:avLst>
          </a:prstGeom>
          <a:solidFill>
            <a:srgbClr val="8F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CO-3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072384"/>
            <a:ext cx="3749039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8F1D28"/>
                </a:solidFill>
              </a:rPr>
              <a:t>Inter-Process Communication</a:t>
            </a:r>
          </a:p>
          <a:p>
            <a:pPr algn="l"/>
            <a:r>
              <a:rPr sz="1200" b="0" i="0">
                <a:solidFill>
                  <a:srgbClr val="595959"/>
                </a:solidFill>
              </a:rPr>
              <a:t>Pipes, FIFOs and signals (menu 13 – 15)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3346704"/>
            <a:ext cx="1691640" cy="329184"/>
          </a:xfrm>
          <a:prstGeom prst="roundRect">
            <a:avLst>
              <a:gd name="adj" fmla="val 40000"/>
            </a:avLst>
          </a:prstGeom>
          <a:solidFill>
            <a:srgbClr val="FBEAEA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8F1D28"/>
                </a:solidFill>
              </a:rPr>
              <a:t>Additional module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4059936"/>
            <a:ext cx="685800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892040" y="4242816"/>
            <a:ext cx="868680" cy="512064"/>
          </a:xfrm>
          <a:prstGeom prst="roundRect">
            <a:avLst>
              <a:gd name="adj" fmla="val 25000"/>
            </a:avLst>
          </a:prstGeom>
          <a:solidFill>
            <a:srgbClr val="8F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CO-4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059936"/>
            <a:ext cx="3749039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8F1D28"/>
                </a:solidFill>
              </a:rPr>
              <a:t>Memory Management</a:t>
            </a:r>
          </a:p>
          <a:p>
            <a:pPr algn="l"/>
            <a:r>
              <a:rPr sz="1200" b="0" i="0">
                <a:solidFill>
                  <a:srgbClr val="595959"/>
                </a:solidFill>
              </a:rPr>
              <a:t>Memory Management (menu 16)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4334256"/>
            <a:ext cx="1691640" cy="329184"/>
          </a:xfrm>
          <a:prstGeom prst="roundRect">
            <a:avLst>
              <a:gd name="adj" fmla="val 40000"/>
            </a:avLst>
          </a:prstGeom>
          <a:solidFill>
            <a:srgbClr val="FBEAEA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8F1D28"/>
                </a:solidFill>
              </a:rPr>
              <a:t>Additional module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0" y="5047488"/>
            <a:ext cx="685800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892040" y="5230368"/>
            <a:ext cx="868680" cy="512064"/>
          </a:xfrm>
          <a:prstGeom prst="roundRect">
            <a:avLst>
              <a:gd name="adj" fmla="val 25000"/>
            </a:avLst>
          </a:prstGeom>
          <a:solidFill>
            <a:srgbClr val="8F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CO-6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5047488"/>
            <a:ext cx="3749039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8F1D28"/>
                </a:solidFill>
              </a:rPr>
              <a:t>Concurrency and Synchronization</a:t>
            </a:r>
          </a:p>
          <a:p>
            <a:pPr algn="l"/>
            <a:r>
              <a:rPr sz="1200" b="0" i="0">
                <a:solidFill>
                  <a:srgbClr val="595959"/>
                </a:solidFill>
              </a:rPr>
              <a:t>Thread Synchronization (menu 17)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5321808"/>
            <a:ext cx="1691640" cy="329184"/>
          </a:xfrm>
          <a:prstGeom prst="roundRect">
            <a:avLst>
              <a:gd name="adj" fmla="val 40000"/>
            </a:avLst>
          </a:prstGeom>
          <a:solidFill>
            <a:srgbClr val="FBEAEA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8F1D28"/>
                </a:solidFill>
              </a:rPr>
              <a:t>Additional module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/>
          <p:nvPr/>
        </p:nvSpPr>
        <p:spPr>
          <a:xfrm>
            <a:off x="2624328" y="219456"/>
            <a:ext cx="6949440" cy="521207"/>
          </a:xfrm>
          <a:prstGeom prst="roundRect">
            <a:avLst>
              <a:gd name="adj" fmla="val 1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Testing and Results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0CFDE-CD93-201B-A399-23510E8E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10/31/2026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97D3-BC04-F1C9-00E9-94B0738C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097280"/>
          <a:ext cx="6583680" cy="4572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Test Area</a:t>
                      </a:r>
                    </a:p>
                  </a:txBody>
                  <a:tcPr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Validation Approach</a:t>
                      </a:r>
                    </a:p>
                  </a:txBody>
                  <a:tcPr marT="27432" marB="27432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File creation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Create a file and confirm it exists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File writing and reading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Write content, check the file, read it back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File deletion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Delete a test file and confirm removal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Directory management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Create, navigate and remove directories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File metadata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Display information of an existing file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IPC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Verify pipe, FIFO and signal behavior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Process management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Test implemented process operations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Memory management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Test implemented memory functionality</a:t>
                      </a:r>
                    </a:p>
                  </a:txBody>
                  <a:tcPr marT="27432" marB="27432" anchor="ctr"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Thread synchronization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Test implemented thread functionality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760720"/>
            <a:ext cx="6583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</a:rPr>
              <a:t>Run tests only in a designated test directory; avoid deleting important files.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05176F-AA1A-8F1B-3C69-8AFAEFF4F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328" y="1933074"/>
            <a:ext cx="3585133" cy="277498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/>
          <p:nvPr/>
        </p:nvSpPr>
        <p:spPr>
          <a:xfrm>
            <a:off x="2624328" y="219456"/>
            <a:ext cx="6949440" cy="521207"/>
          </a:xfrm>
          <a:prstGeom prst="roundRect">
            <a:avLst>
              <a:gd name="adj" fmla="val 1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Conclusion and Future Enhancements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0CFDE-CD93-201B-A399-23510E8E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10/31/2026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97D3-BC04-F1C9-00E9-94B0738C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15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4572000" cy="4892040"/>
          </a:xfrm>
          <a:prstGeom prst="roundRect">
            <a:avLst>
              <a:gd name="adj" fmla="val 5000"/>
            </a:avLst>
          </a:prstGeom>
          <a:solidFill>
            <a:srgbClr val="FBEAEA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128016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aGraduationCap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19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128016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8F1D28"/>
                </a:solidFill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411480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spcAft>
                <a:spcPts val="700"/>
              </a:spcAft>
              <a:buClr>
                <a:srgbClr val="C00000"/>
              </a:buClr>
              <a:buChar char="•"/>
            </a:pPr>
            <a:r>
              <a:rPr sz="1600" b="0" i="0">
                <a:solidFill>
                  <a:srgbClr val="262626"/>
                </a:solidFill>
              </a:rPr>
              <a:t>Shows how a user-space program uses Linux system calls to reach OS services.</a:t>
            </a:r>
          </a:p>
          <a:p>
            <a:pPr marL="182880" indent="-182880" algn="l">
              <a:spcAft>
                <a:spcPts val="700"/>
              </a:spcAft>
              <a:buClr>
                <a:srgbClr val="C00000"/>
              </a:buClr>
              <a:buChar char="•"/>
            </a:pPr>
            <a:r>
              <a:rPr sz="1600" b="0" i="0">
                <a:solidFill>
                  <a:srgbClr val="262626"/>
                </a:solidFill>
              </a:rPr>
              <a:t>Gives hands-on practice in file and directory management, file metadata and file positioning.</a:t>
            </a:r>
          </a:p>
          <a:p>
            <a:pPr marL="182880" indent="-182880" algn="l">
              <a:spcAft>
                <a:spcPts val="700"/>
              </a:spcAft>
              <a:buClr>
                <a:srgbClr val="C00000"/>
              </a:buClr>
              <a:buChar char="•"/>
            </a:pPr>
            <a:r>
              <a:rPr sz="1600" b="0" i="0">
                <a:solidFill>
                  <a:srgbClr val="262626"/>
                </a:solidFill>
              </a:rPr>
              <a:t>Extends to process management, IPC, memory management and thread synchronization.</a:t>
            </a:r>
          </a:p>
          <a:p>
            <a:pPr marL="182880" indent="-182880" algn="l">
              <a:buClr>
                <a:srgbClr val="C00000"/>
              </a:buClr>
              <a:buChar char="•"/>
            </a:pPr>
            <a:r>
              <a:rPr sz="1600" b="0" i="0">
                <a:solidFill>
                  <a:srgbClr val="262626"/>
                </a:solidFill>
              </a:rPr>
              <a:t>Builds practical C, GCC, Make and Git skills for systems programming.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097280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8F1D28"/>
                </a:solidFill>
              </a:rPr>
              <a:t>Future Enhancements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1691640"/>
            <a:ext cx="19659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108192" y="1801368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aSitema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492" y="1915668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68112" y="2350008"/>
            <a:ext cx="1819656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8F1D28"/>
                </a:solidFill>
              </a:rPr>
              <a:t>Recursive directory exploration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691640"/>
            <a:ext cx="19659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11311" y="1801368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FaSear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611" y="1915668"/>
            <a:ext cx="22860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571231" y="2350008"/>
            <a:ext cx="1819656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8F1D28"/>
                </a:solidFill>
              </a:rPr>
              <a:t>File searching and filtering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691640"/>
            <a:ext cx="19659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314432" y="1801368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FaShieldAl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8732" y="1915668"/>
            <a:ext cx="228600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674352" y="2350008"/>
            <a:ext cx="1819656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8F1D28"/>
                </a:solidFill>
              </a:rPr>
              <a:t>File permission management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0" y="3108960"/>
            <a:ext cx="19659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108192" y="3218688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FaInfoCirc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2492" y="3332988"/>
            <a:ext cx="228600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68112" y="3767328"/>
            <a:ext cx="1819656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8F1D28"/>
                </a:solidFill>
              </a:rPr>
              <a:t>Improved metadata display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3108960"/>
            <a:ext cx="19659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11311" y="3218688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FaChartLin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5611" y="3332988"/>
            <a:ext cx="228600" cy="228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71231" y="3767328"/>
            <a:ext cx="1819656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8F1D28"/>
                </a:solidFill>
              </a:rPr>
              <a:t>Process monitoring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0" y="3108960"/>
            <a:ext cx="19659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314432" y="3218688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FaExchangeAl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8732" y="3332988"/>
            <a:ext cx="228600" cy="2286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674352" y="3767328"/>
            <a:ext cx="1819656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8F1D28"/>
                </a:solidFill>
              </a:rPr>
              <a:t>Additional IPC demonstrations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94960" y="4526280"/>
            <a:ext cx="19659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108192" y="4636008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FaMemory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2492" y="4750308"/>
            <a:ext cx="228600" cy="2286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468112" y="5184648"/>
            <a:ext cx="1819656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8F1D28"/>
                </a:solidFill>
              </a:rPr>
              <a:t>Expanded memory management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79" y="4526280"/>
            <a:ext cx="19659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211311" y="4636008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FaCodeBranch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5611" y="4750308"/>
            <a:ext cx="228600" cy="2286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571231" y="5184648"/>
            <a:ext cx="1819656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8F1D28"/>
                </a:solidFill>
              </a:rPr>
              <a:t>Improved synchronization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01200" y="4526280"/>
            <a:ext cx="19659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0314432" y="4636008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FaFlask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28732" y="4750308"/>
            <a:ext cx="228600" cy="2286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674352" y="5184648"/>
            <a:ext cx="1819656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8F1D28"/>
                </a:solidFill>
              </a:rPr>
              <a:t>Automated testing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4960" y="5897880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</a:rPr>
              <a:t>Potential enhancements; not part of the current implementation.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64234-7A34-7521-498A-DD3F6E491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2186-ABE7-42AB-8003-2FA9F73CA34D}" type="datetime1">
              <a:rPr lang="en-US" smtClean="0"/>
              <a:t>10/31/2026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9A4F7-9EC8-2129-C8BB-C74E5E40C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286000" y="4069080"/>
            <a:ext cx="76169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8F1D28"/>
                </a:solidFill>
              </a:rPr>
              <a:t>Linux File System Explorer Using System Calls</a:t>
            </a:r>
          </a:p>
          <a:p>
            <a:pPr algn="ctr"/>
            <a:r>
              <a:rPr sz="1600" b="0" i="0">
                <a:solidFill>
                  <a:srgbClr val="595959"/>
                </a:solidFill>
              </a:rPr>
              <a:t>Team 08   |   Faculty Guide: Raghupathi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1625</Words>
  <Application>Microsoft Office PowerPoint</Application>
  <PresentationFormat>Widescreen</PresentationFormat>
  <Paragraphs>405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Operating System and System Programming (25CS2104E) Linux File System Explorer Using System Calls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Jhanasri Thota</cp:lastModifiedBy>
  <cp:revision>25</cp:revision>
  <dcterms:created xsi:type="dcterms:W3CDTF">2026-08-31T05:18:20Z</dcterms:created>
  <dcterms:modified xsi:type="dcterms:W3CDTF">2026-10-31T07:39:00Z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2E321512259BCFD0FA0C956AC94F79BD_43</vt:lpwstr>
  </property>
  <property fmtid="{D5CDD505-2E9C-101B-9397-08002B2CF9AE}" pid="3" name="KSOProductBuildVer">
    <vt:lpwstr>1033-12.1.26050.26050</vt:lpwstr>
  </property>
</Properties>
</file>