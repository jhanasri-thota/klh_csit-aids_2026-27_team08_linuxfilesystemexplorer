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4660"/>
  </p:normalViewPr>
  <p:slideViewPr>
    <p:cSldViewPr snapToGrid="0">
      <p:cViewPr varScale="1">
        <p:scale>
          <a:sx n="82" d="100"/>
          <a:sy n="82" d="100"/>
        </p:scale>
        <p:origin x="9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2448" y="652145"/>
            <a:ext cx="9163372" cy="2316480"/>
          </a:xfrm>
        </p:spPr>
        <p:txBody>
          <a:bodyPr/>
          <a:lstStyle/>
          <a:p>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b="1">
                <a:solidFill>
                  <a:srgbClr val="C00000"/>
                </a:solidFill>
                <a:latin typeface="+mn-lt"/>
              </a:rPr>
            </a:br>
            <a:br>
              <a:rPr lang="en-US" sz="4000" b="1">
                <a:solidFill>
                  <a:srgbClr val="C00000"/>
                </a:solidFill>
                <a:latin typeface="+mn-lt"/>
              </a:rPr>
            </a:br>
            <a:r>
              <a:rPr lang="en-US" sz="4000" b="1">
                <a:solidFill>
                  <a:srgbClr val="C00000"/>
                </a:solidFill>
                <a:latin typeface="+mn-lt"/>
              </a:rPr>
              <a:t>Operating system and system programming (25CS2104E)</a:t>
            </a:r>
            <a:br>
              <a:rPr lang="en-US" sz="4000" b="1">
                <a:solidFill>
                  <a:srgbClr val="C00000"/>
                </a:solidFill>
                <a:latin typeface="+mn-lt"/>
              </a:rPr>
            </a:br>
            <a:br>
              <a:rPr lang="en-US" sz="4000" b="1">
                <a:solidFill>
                  <a:srgbClr val="C00000"/>
                </a:solidFill>
                <a:latin typeface="+mn-lt"/>
              </a:rPr>
            </a:br>
            <a:r>
              <a:rPr lang="en-US" sz="3200" b="1">
                <a:latin typeface="+mn-lt"/>
              </a:rPr>
              <a:t>Linux File System Explorer System Calls</a:t>
            </a:r>
            <a:endParaRPr lang="en-US" sz="3200" b="1" dirty="0">
              <a:latin typeface="+mn-lt"/>
            </a:endParaRPr>
          </a:p>
        </p:txBody>
      </p:sp>
      <p:sp>
        <p:nvSpPr>
          <p:cNvPr id="3" name="Subtitle 2"/>
          <p:cNvSpPr>
            <a:spLocks noGrp="1"/>
          </p:cNvSpPr>
          <p:nvPr>
            <p:ph type="subTitle" idx="1"/>
          </p:nvPr>
        </p:nvSpPr>
        <p:spPr>
          <a:xfrm>
            <a:off x="7349141" y="4643428"/>
            <a:ext cx="5384800" cy="1913890"/>
          </a:xfrm>
        </p:spPr>
        <p:txBody>
          <a:bodyPr/>
          <a:lstStyle/>
          <a:p>
            <a:pPr algn="l"/>
            <a:r>
              <a:rPr lang="en-US">
                <a:solidFill>
                  <a:srgbClr val="002060"/>
                </a:solidFill>
              </a:rPr>
              <a:t>Team Members:</a:t>
            </a:r>
          </a:p>
          <a:p>
            <a:pPr algn="l"/>
            <a:r>
              <a:rPr lang="en-US">
                <a:solidFill>
                  <a:srgbClr val="002060"/>
                </a:solidFill>
              </a:rPr>
              <a:t>Sindhuja   2520080045</a:t>
            </a:r>
          </a:p>
          <a:p>
            <a:pPr algn="l"/>
            <a:r>
              <a:rPr lang="en-US">
                <a:solidFill>
                  <a:srgbClr val="002060"/>
                </a:solidFill>
              </a:rPr>
              <a:t>Jhanasri    2520090121</a:t>
            </a:r>
          </a:p>
          <a:p>
            <a:pPr algn="l"/>
            <a:r>
              <a:rPr lang="en-US">
                <a:solidFill>
                  <a:srgbClr val="002060"/>
                </a:solidFill>
              </a:rPr>
              <a:t>Alekhya    2520090126</a:t>
            </a:r>
          </a:p>
          <a:p>
            <a:endParaRPr lang="en-US" sz="1800" ker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endParaRPr lang="en-US" b="1" dirty="0">
              <a:solidFill>
                <a:schemeClr val="tx1"/>
              </a:solidFill>
            </a:endParaRPr>
          </a:p>
        </p:txBody>
      </p:sp>
      <p:sp>
        <p:nvSpPr>
          <p:cNvPr id="5" name="TextBox 4">
            <a:extLst>
              <a:ext uri="{FF2B5EF4-FFF2-40B4-BE49-F238E27FC236}">
                <a16:creationId xmlns:a16="http://schemas.microsoft.com/office/drawing/2014/main" id="{D2F78912-86E2-3DFA-A0B9-1E6CB3A9493D}"/>
              </a:ext>
            </a:extLst>
          </p:cNvPr>
          <p:cNvSpPr txBox="1"/>
          <p:nvPr/>
        </p:nvSpPr>
        <p:spPr>
          <a:xfrm>
            <a:off x="167185" y="4846321"/>
            <a:ext cx="4391167" cy="1508105"/>
          </a:xfrm>
          <a:prstGeom prst="rect">
            <a:avLst/>
          </a:prstGeom>
          <a:noFill/>
        </p:spPr>
        <p:txBody>
          <a:bodyPr wrap="square">
            <a:spAutoFit/>
          </a:bodyPr>
          <a:lstStyle/>
          <a:p>
            <a:pPr algn="ctr"/>
            <a:r>
              <a:rPr lang="en-US" sz="24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2400" kern="100" dirty="0">
              <a:latin typeface="Calibri" panose="020F0502020204030204" pitchFamily="34" charset="0"/>
              <a:ea typeface="Calibri" panose="020F0502020204030204" pitchFamily="34" charset="0"/>
              <a:cs typeface="Gautami" panose="020B0502040204020203" pitchFamily="34" charset="0"/>
            </a:endParaRPr>
          </a:p>
          <a:p>
            <a:pPr algn="ctr"/>
            <a:endParaRPr lang="en-US" sz="2200" b="1" dirty="0">
              <a:solidFill>
                <a:schemeClr val="tx1"/>
              </a:solidFill>
            </a:endParaRPr>
          </a:p>
          <a:p>
            <a:pPr algn="ctr"/>
            <a:r>
              <a:rPr lang="en-US" sz="2200" b="1" dirty="0">
                <a:solidFill>
                  <a:schemeClr val="tx1"/>
                </a:solidFill>
              </a:rPr>
              <a:t>Raghupathi M</a:t>
            </a:r>
          </a:p>
          <a:p>
            <a:pPr algn="ctr"/>
            <a:r>
              <a:rPr lang="en-US" sz="2400" b="1" dirty="0">
                <a:solidFill>
                  <a:schemeClr val="tx1"/>
                </a:solidFill>
              </a:rPr>
              <a:t>CSE Department</a:t>
            </a:r>
            <a:endParaRPr lang="en-US" sz="2400" dirty="0">
              <a:solidFill>
                <a:schemeClr val="tx1"/>
              </a:solidFill>
            </a:endParaRPr>
          </a:p>
        </p:txBody>
      </p:sp>
      <p:sp>
        <p:nvSpPr>
          <p:cNvPr id="7" name="TextBox 6">
            <a:extLst>
              <a:ext uri="{FF2B5EF4-FFF2-40B4-BE49-F238E27FC236}">
                <a16:creationId xmlns:a16="http://schemas.microsoft.com/office/drawing/2014/main" id="{86B79BAB-0195-236A-70B8-3DECB286B2B5}"/>
              </a:ext>
            </a:extLst>
          </p:cNvPr>
          <p:cNvSpPr txBox="1"/>
          <p:nvPr/>
        </p:nvSpPr>
        <p:spPr>
          <a:xfrm>
            <a:off x="3377272" y="3596988"/>
            <a:ext cx="6093724" cy="584775"/>
          </a:xfrm>
          <a:prstGeom prst="rect">
            <a:avLst/>
          </a:prstGeom>
          <a:noFill/>
        </p:spPr>
        <p:txBody>
          <a:bodyPr wrap="square">
            <a:spAutoFit/>
          </a:bodyPr>
          <a:lstStyle/>
          <a:p>
            <a:pPr algn="ctr"/>
            <a:r>
              <a:rPr lang="en-US" sz="3200" b="1" dirty="0">
                <a:solidFill>
                  <a:schemeClr val="accent1">
                    <a:lumMod val="75000"/>
                  </a:schemeClr>
                </a:solidFill>
                <a:latin typeface="+mn-lt"/>
              </a:rPr>
              <a:t>Review-I</a:t>
            </a:r>
            <a:endParaRPr lang="en-US"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3735253"/>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7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dirty="0">
                <a:solidFill>
                  <a:srgbClr val="000000"/>
                </a:solidFill>
                <a:latin typeface="Calibri" panose="020F0502020204030204" pitchFamily="34" charset="0"/>
                <a:cs typeface="Gautami" panose="020B0502040204020203" pitchFamily="34" charset="0"/>
              </a:rPr>
              <a:t>System Architecture</a:t>
            </a:r>
            <a:endParaRPr lang="en-IN" sz="3200" b="0" i="0" u="none" strike="noStrike" dirty="0">
              <a:effectLst/>
              <a:latin typeface="Arial" panose="020B0704020202020204" pitchFamily="34" charset="0"/>
            </a:endParaRPr>
          </a:p>
          <a:p>
            <a:pPr marL="457200" indent="-457200" algn="l" rtl="0" eaLnBrk="1" fontAlgn="t" latinLnBrk="0" hangingPunct="1">
              <a:lnSpc>
                <a:spcPct val="107000"/>
              </a:lnSpc>
              <a:spcBef>
                <a:spcPts val="0"/>
              </a:spcBef>
              <a:spcAft>
                <a:spcPts val="800"/>
              </a:spcAft>
              <a:buFont typeface="Arial" panose="020B07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
        <p:nvSpPr>
          <p:cNvPr id="2" name="Date Placeholder 1">
            <a:extLst>
              <a:ext uri="{FF2B5EF4-FFF2-40B4-BE49-F238E27FC236}">
                <a16:creationId xmlns:a16="http://schemas.microsoft.com/office/drawing/2014/main" id="{821029D6-E146-55B7-6FE6-DD167709DA3C}"/>
              </a:ext>
            </a:extLst>
          </p:cNvPr>
          <p:cNvSpPr>
            <a:spLocks noGrp="1"/>
          </p:cNvSpPr>
          <p:nvPr>
            <p:ph type="dt" sz="half" idx="10"/>
          </p:nvPr>
        </p:nvSpPr>
        <p:spPr/>
        <p:txBody>
          <a:bodyPr/>
          <a:lstStyle/>
          <a:p>
            <a:fld id="{32179801-AD4A-4368-9C25-F8FFDCCA9D13}" type="datetime1">
              <a:rPr lang="en-US" smtClean="0"/>
              <a:t>9/2/2026</a:t>
            </a:fld>
            <a:endParaRPr lang="en-US"/>
          </a:p>
        </p:txBody>
      </p:sp>
      <p:sp>
        <p:nvSpPr>
          <p:cNvPr id="3" name="Slide Number Placeholder 2">
            <a:extLst>
              <a:ext uri="{FF2B5EF4-FFF2-40B4-BE49-F238E27FC236}">
                <a16:creationId xmlns:a16="http://schemas.microsoft.com/office/drawing/2014/main" id="{CF031D3A-8519-E357-DDA9-EAECFBBAEB51}"/>
              </a:ext>
            </a:extLst>
          </p:cNvPr>
          <p:cNvSpPr>
            <a:spLocks noGrp="1"/>
          </p:cNvSpPr>
          <p:nvPr>
            <p:ph type="sldNum" sz="quarter" idx="12"/>
          </p:nvPr>
        </p:nvSpPr>
        <p:spPr/>
        <p:txBody>
          <a:bodyPr/>
          <a:lstStyle/>
          <a:p>
            <a:fld id="{7EED5C5B-9EF4-44F9-8A5E-F9CA765F3D63}"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Abstract</a:t>
            </a:r>
          </a:p>
        </p:txBody>
      </p:sp>
      <p:sp>
        <p:nvSpPr>
          <p:cNvPr id="5" name="Date Placeholder 4">
            <a:extLst>
              <a:ext uri="{FF2B5EF4-FFF2-40B4-BE49-F238E27FC236}">
                <a16:creationId xmlns:a16="http://schemas.microsoft.com/office/drawing/2014/main" id="{AFE0CFDE-CD93-201B-A399-23510E8EDADB}"/>
              </a:ext>
            </a:extLst>
          </p:cNvPr>
          <p:cNvSpPr>
            <a:spLocks noGrp="1"/>
          </p:cNvSpPr>
          <p:nvPr>
            <p:ph type="dt" sz="half" idx="10"/>
          </p:nvPr>
        </p:nvSpPr>
        <p:spPr/>
        <p:txBody>
          <a:bodyPr/>
          <a:lstStyle/>
          <a:p>
            <a:fld id="{35DB7AC3-148D-47E6-92EE-86CA146E5716}" type="datetime1">
              <a:rPr lang="en-US" smtClean="0"/>
              <a:t>9/2/2026</a:t>
            </a:fld>
            <a:endParaRPr lang="en-US"/>
          </a:p>
        </p:txBody>
      </p:sp>
      <p:sp>
        <p:nvSpPr>
          <p:cNvPr id="6" name="Slide Number Placeholder 5">
            <a:extLst>
              <a:ext uri="{FF2B5EF4-FFF2-40B4-BE49-F238E27FC236}">
                <a16:creationId xmlns:a16="http://schemas.microsoft.com/office/drawing/2014/main" id="{E7A097D3-BC04-F1C9-00E9-94B0738C1418}"/>
              </a:ext>
            </a:extLst>
          </p:cNvPr>
          <p:cNvSpPr>
            <a:spLocks noGrp="1"/>
          </p:cNvSpPr>
          <p:nvPr>
            <p:ph type="sldNum" sz="quarter" idx="12"/>
          </p:nvPr>
        </p:nvSpPr>
        <p:spPr/>
        <p:txBody>
          <a:bodyPr/>
          <a:lstStyle/>
          <a:p>
            <a:fld id="{7EED5C5B-9EF4-44F9-8A5E-F9CA765F3D63}" type="slidenum">
              <a:rPr lang="en-US" smtClean="0"/>
              <a:t>3</a:t>
            </a:fld>
            <a:endParaRPr lang="en-US"/>
          </a:p>
        </p:txBody>
      </p:sp>
      <p:sp>
        <p:nvSpPr>
          <p:cNvPr id="7" name="TextBox 6">
            <a:extLst>
              <a:ext uri="{FF2B5EF4-FFF2-40B4-BE49-F238E27FC236}">
                <a16:creationId xmlns:a16="http://schemas.microsoft.com/office/drawing/2014/main" id="{E297F152-B726-1AED-9FE1-DF8094266612}"/>
              </a:ext>
            </a:extLst>
          </p:cNvPr>
          <p:cNvSpPr txBox="1"/>
          <p:nvPr/>
        </p:nvSpPr>
        <p:spPr>
          <a:xfrm>
            <a:off x="1623527" y="1690062"/>
            <a:ext cx="9405257" cy="3477875"/>
          </a:xfrm>
          <a:prstGeom prst="rect">
            <a:avLst/>
          </a:prstGeom>
          <a:noFill/>
        </p:spPr>
        <p:txBody>
          <a:bodyPr wrap="square">
            <a:spAutoFit/>
          </a:bodyPr>
          <a:lstStyle/>
          <a:p>
            <a:pPr algn="just">
              <a:buNone/>
            </a:pPr>
            <a:r>
              <a:rPr lang="en-IN" sz="2000" dirty="0"/>
              <a:t>                  The </a:t>
            </a:r>
            <a:r>
              <a:rPr lang="en-IN" sz="2000" b="1" dirty="0"/>
              <a:t>Linux File System Explorer</a:t>
            </a:r>
            <a:r>
              <a:rPr lang="en-IN" sz="2000" dirty="0"/>
              <a:t> is a simple project developed to help users perform basic file and directory operations in a Linux environment. It provides an easy way to manage files using a command-line interface. The system allows users to create new files and directories, read and write data, view information about files, and delete files when they are no longer needed. These operations are performed using Linux</a:t>
            </a:r>
            <a:r>
              <a:rPr lang="en-IN" sz="2000" b="1" dirty="0"/>
              <a:t> </a:t>
            </a:r>
            <a:r>
              <a:rPr lang="en-IN" sz="2000" dirty="0"/>
              <a:t>system calls, which allow the program to communicate with the operating system. The project helps us understand how Linux manages files and directories and how applications interact with the operating system. It also provides practical knowledge about file handling, file input/output, file descriptors, directories, and system programming. Overall, this project gives a basic understanding of the Linux file system and the role of system calls in performing file-related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E3377-AD48-C317-56EF-BB6DEA41CB0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E7DFF9B-AF13-3CBC-C2B1-8156A6C27AD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42E30A3-627A-0C0D-8E68-FFD84EF51DAA}"/>
              </a:ext>
            </a:extLst>
          </p:cNvPr>
          <p:cNvSpPr txBox="1"/>
          <p:nvPr/>
        </p:nvSpPr>
        <p:spPr>
          <a:xfrm>
            <a:off x="2660072" y="221673"/>
            <a:ext cx="6871855" cy="521970"/>
          </a:xfrm>
          <a:prstGeom prst="rect">
            <a:avLst/>
          </a:prstGeom>
          <a:noFill/>
        </p:spPr>
        <p:txBody>
          <a:bodyPr wrap="square" rtlCol="0">
            <a:spAutoFit/>
          </a:bodyPr>
          <a:lstStyle/>
          <a:p>
            <a:pPr algn="ctr"/>
            <a:r>
              <a:rPr lang="en-US" sz="2800" b="1" dirty="0">
                <a:solidFill>
                  <a:schemeClr val="bg1"/>
                </a:solidFill>
              </a:rPr>
              <a:t>Introduction</a:t>
            </a:r>
          </a:p>
        </p:txBody>
      </p:sp>
      <p:sp>
        <p:nvSpPr>
          <p:cNvPr id="5" name="Date Placeholder 4">
            <a:extLst>
              <a:ext uri="{FF2B5EF4-FFF2-40B4-BE49-F238E27FC236}">
                <a16:creationId xmlns:a16="http://schemas.microsoft.com/office/drawing/2014/main" id="{1FE559BE-24A9-DD17-5994-3CA09176D0C0}"/>
              </a:ext>
            </a:extLst>
          </p:cNvPr>
          <p:cNvSpPr>
            <a:spLocks noGrp="1"/>
          </p:cNvSpPr>
          <p:nvPr>
            <p:ph type="dt" sz="half" idx="10"/>
          </p:nvPr>
        </p:nvSpPr>
        <p:spPr/>
        <p:txBody>
          <a:bodyPr/>
          <a:lstStyle/>
          <a:p>
            <a:fld id="{35DB7AC3-148D-47E6-92EE-86CA146E5716}" type="datetime1">
              <a:rPr lang="en-US" smtClean="0"/>
              <a:t>9/2/2026</a:t>
            </a:fld>
            <a:endParaRPr lang="en-US"/>
          </a:p>
        </p:txBody>
      </p:sp>
      <p:sp>
        <p:nvSpPr>
          <p:cNvPr id="6" name="Slide Number Placeholder 5">
            <a:extLst>
              <a:ext uri="{FF2B5EF4-FFF2-40B4-BE49-F238E27FC236}">
                <a16:creationId xmlns:a16="http://schemas.microsoft.com/office/drawing/2014/main" id="{917CD269-83F2-F4C5-3099-E35078586FE9}"/>
              </a:ext>
            </a:extLst>
          </p:cNvPr>
          <p:cNvSpPr>
            <a:spLocks noGrp="1"/>
          </p:cNvSpPr>
          <p:nvPr>
            <p:ph type="sldNum" sz="quarter" idx="12"/>
          </p:nvPr>
        </p:nvSpPr>
        <p:spPr/>
        <p:txBody>
          <a:bodyPr/>
          <a:lstStyle/>
          <a:p>
            <a:fld id="{7EED5C5B-9EF4-44F9-8A5E-F9CA765F3D63}" type="slidenum">
              <a:rPr lang="en-US" smtClean="0"/>
              <a:t>4</a:t>
            </a:fld>
            <a:endParaRPr lang="en-US"/>
          </a:p>
        </p:txBody>
      </p:sp>
      <p:sp>
        <p:nvSpPr>
          <p:cNvPr id="12" name="TextBox 11">
            <a:extLst>
              <a:ext uri="{FF2B5EF4-FFF2-40B4-BE49-F238E27FC236}">
                <a16:creationId xmlns:a16="http://schemas.microsoft.com/office/drawing/2014/main" id="{C4B9BB70-FF28-E7E1-FDFE-3FE2DC671A6B}"/>
              </a:ext>
            </a:extLst>
          </p:cNvPr>
          <p:cNvSpPr txBox="1"/>
          <p:nvPr/>
        </p:nvSpPr>
        <p:spPr>
          <a:xfrm>
            <a:off x="2146041" y="1838131"/>
            <a:ext cx="8341567" cy="2862322"/>
          </a:xfrm>
          <a:prstGeom prst="rect">
            <a:avLst/>
          </a:prstGeom>
          <a:noFill/>
        </p:spPr>
        <p:txBody>
          <a:bodyPr wrap="square">
            <a:spAutoFit/>
          </a:bodyPr>
          <a:lstStyle/>
          <a:p>
            <a:pPr algn="just"/>
            <a:r>
              <a:rPr lang="en-IN" sz="2000" dirty="0"/>
              <a:t>The </a:t>
            </a:r>
            <a:r>
              <a:rPr lang="en-IN" sz="2000" b="1" dirty="0"/>
              <a:t>Linux File System Explorer</a:t>
            </a:r>
            <a:r>
              <a:rPr lang="en-IN" sz="2000" dirty="0"/>
              <a:t> is a simple application designed to perform basic file and directory operations in Linux. A file system is used by the operating system to store and organize files and folders. In this project, users can easily create, read, write, and delete files and directories. The application uses Linux system calls to perform these operations and communicate with the operating system. It helps us understand how files are managed in Linux and how a user program interacts with the Linux kernel. The project also gives practical knowledge about file handling, file input/output, directories, file descriptors, and system programming.</a:t>
            </a:r>
          </a:p>
        </p:txBody>
      </p:sp>
    </p:spTree>
    <p:extLst>
      <p:ext uri="{BB962C8B-B14F-4D97-AF65-F5344CB8AC3E}">
        <p14:creationId xmlns:p14="http://schemas.microsoft.com/office/powerpoint/2010/main" val="401618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456045" y="221615"/>
            <a:ext cx="6374349" cy="52959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3"/>
          <p:cNvSpPr txBox="1"/>
          <p:nvPr/>
        </p:nvSpPr>
        <p:spPr>
          <a:xfrm>
            <a:off x="3737390" y="221615"/>
            <a:ext cx="6374348" cy="671195"/>
          </a:xfrm>
          <a:prstGeom prst="rect">
            <a:avLst/>
          </a:prstGeom>
          <a:noFill/>
        </p:spPr>
        <p:txBody>
          <a:bodyPr wrap="square" rtlCol="0">
            <a:noAutofit/>
          </a:bodyPr>
          <a:lstStyle/>
          <a:p>
            <a:r>
              <a:rPr lang="en-US" altLang="en-US" sz="2800" b="1" dirty="0">
                <a:solidFill>
                  <a:schemeClr val="bg1"/>
                </a:solidFill>
              </a:rPr>
              <a:t>Hardware and Software requirements</a:t>
            </a:r>
          </a:p>
        </p:txBody>
      </p:sp>
      <p:sp>
        <p:nvSpPr>
          <p:cNvPr id="3" name="Date Placeholder 2">
            <a:extLst>
              <a:ext uri="{FF2B5EF4-FFF2-40B4-BE49-F238E27FC236}">
                <a16:creationId xmlns:a16="http://schemas.microsoft.com/office/drawing/2014/main" id="{7A4B27F7-CA90-4D59-F334-BDE7693BDAAC}"/>
              </a:ext>
            </a:extLst>
          </p:cNvPr>
          <p:cNvSpPr>
            <a:spLocks noGrp="1"/>
          </p:cNvSpPr>
          <p:nvPr>
            <p:ph type="dt" sz="half" idx="10"/>
          </p:nvPr>
        </p:nvSpPr>
        <p:spPr/>
        <p:txBody>
          <a:bodyPr/>
          <a:lstStyle/>
          <a:p>
            <a:fld id="{FEC03DE9-87EE-417A-AE3E-75342F0B996E}" type="datetime1">
              <a:rPr lang="en-US" smtClean="0"/>
              <a:t>9/2/2026</a:t>
            </a:fld>
            <a:endParaRPr lang="en-US"/>
          </a:p>
        </p:txBody>
      </p:sp>
      <p:sp>
        <p:nvSpPr>
          <p:cNvPr id="6" name="Slide Number Placeholder 5">
            <a:extLst>
              <a:ext uri="{FF2B5EF4-FFF2-40B4-BE49-F238E27FC236}">
                <a16:creationId xmlns:a16="http://schemas.microsoft.com/office/drawing/2014/main" id="{C9563280-B772-867A-6341-08A7DB8CCFB2}"/>
              </a:ext>
            </a:extLst>
          </p:cNvPr>
          <p:cNvSpPr>
            <a:spLocks noGrp="1"/>
          </p:cNvSpPr>
          <p:nvPr>
            <p:ph type="sldNum" sz="quarter" idx="12"/>
          </p:nvPr>
        </p:nvSpPr>
        <p:spPr/>
        <p:txBody>
          <a:bodyPr/>
          <a:lstStyle/>
          <a:p>
            <a:fld id="{7EED5C5B-9EF4-44F9-8A5E-F9CA765F3D63}" type="slidenum">
              <a:rPr lang="en-US" smtClean="0"/>
              <a:t>5</a:t>
            </a:fld>
            <a:endParaRPr lang="en-US"/>
          </a:p>
        </p:txBody>
      </p:sp>
      <p:graphicFrame>
        <p:nvGraphicFramePr>
          <p:cNvPr id="7" name="Table 6">
            <a:extLst>
              <a:ext uri="{FF2B5EF4-FFF2-40B4-BE49-F238E27FC236}">
                <a16:creationId xmlns:a16="http://schemas.microsoft.com/office/drawing/2014/main" id="{A082B6D2-E06F-7719-6C7A-D54FCAA37470}"/>
              </a:ext>
            </a:extLst>
          </p:cNvPr>
          <p:cNvGraphicFramePr>
            <a:graphicFrameLocks noGrp="1"/>
          </p:cNvGraphicFramePr>
          <p:nvPr>
            <p:extLst>
              <p:ext uri="{D42A27DB-BD31-4B8C-83A1-F6EECF244321}">
                <p14:modId xmlns:p14="http://schemas.microsoft.com/office/powerpoint/2010/main" val="3186438522"/>
              </p:ext>
            </p:extLst>
          </p:nvPr>
        </p:nvGraphicFramePr>
        <p:xfrm>
          <a:off x="722345" y="2021944"/>
          <a:ext cx="4564224" cy="2074196"/>
        </p:xfrm>
        <a:graphic>
          <a:graphicData uri="http://schemas.openxmlformats.org/drawingml/2006/table">
            <a:tbl>
              <a:tblPr>
                <a:tableStyleId>{5C22544A-7EE6-4342-B048-85BDC9FD1C3A}</a:tableStyleId>
              </a:tblPr>
              <a:tblGrid>
                <a:gridCol w="1885776">
                  <a:extLst>
                    <a:ext uri="{9D8B030D-6E8A-4147-A177-3AD203B41FA5}">
                      <a16:colId xmlns:a16="http://schemas.microsoft.com/office/drawing/2014/main" val="11861813"/>
                    </a:ext>
                  </a:extLst>
                </a:gridCol>
                <a:gridCol w="2678448">
                  <a:extLst>
                    <a:ext uri="{9D8B030D-6E8A-4147-A177-3AD203B41FA5}">
                      <a16:colId xmlns:a16="http://schemas.microsoft.com/office/drawing/2014/main" val="451559961"/>
                    </a:ext>
                  </a:extLst>
                </a:gridCol>
              </a:tblGrid>
              <a:tr h="518549">
                <a:tc>
                  <a:txBody>
                    <a:bodyPr/>
                    <a:lstStyle/>
                    <a:p>
                      <a:pPr>
                        <a:buNone/>
                      </a:pPr>
                      <a:r>
                        <a:rPr lang="en-IN" b="1" dirty="0"/>
                        <a:t>Hardware</a:t>
                      </a:r>
                    </a:p>
                  </a:txBody>
                  <a:tcPr anchor="ctr"/>
                </a:tc>
                <a:tc>
                  <a:txBody>
                    <a:bodyPr/>
                    <a:lstStyle/>
                    <a:p>
                      <a:pPr>
                        <a:buNone/>
                      </a:pPr>
                      <a:r>
                        <a:rPr lang="en-IN" b="1" dirty="0"/>
                        <a:t>Requirement</a:t>
                      </a:r>
                    </a:p>
                  </a:txBody>
                  <a:tcPr anchor="ctr"/>
                </a:tc>
                <a:extLst>
                  <a:ext uri="{0D108BD9-81ED-4DB2-BD59-A6C34878D82A}">
                    <a16:rowId xmlns:a16="http://schemas.microsoft.com/office/drawing/2014/main" val="1091456582"/>
                  </a:ext>
                </a:extLst>
              </a:tr>
              <a:tr h="518549">
                <a:tc>
                  <a:txBody>
                    <a:bodyPr/>
                    <a:lstStyle/>
                    <a:p>
                      <a:pPr>
                        <a:buNone/>
                      </a:pPr>
                      <a:r>
                        <a:rPr lang="en-IN"/>
                        <a:t>Processor</a:t>
                      </a:r>
                    </a:p>
                  </a:txBody>
                  <a:tcPr anchor="ctr"/>
                </a:tc>
                <a:tc>
                  <a:txBody>
                    <a:bodyPr/>
                    <a:lstStyle/>
                    <a:p>
                      <a:pPr>
                        <a:buNone/>
                      </a:pPr>
                      <a:r>
                        <a:rPr lang="en-IN" dirty="0"/>
                        <a:t>Intel Core i3 or above</a:t>
                      </a:r>
                    </a:p>
                  </a:txBody>
                  <a:tcPr anchor="ctr"/>
                </a:tc>
                <a:extLst>
                  <a:ext uri="{0D108BD9-81ED-4DB2-BD59-A6C34878D82A}">
                    <a16:rowId xmlns:a16="http://schemas.microsoft.com/office/drawing/2014/main" val="3925298101"/>
                  </a:ext>
                </a:extLst>
              </a:tr>
              <a:tr h="518549">
                <a:tc>
                  <a:txBody>
                    <a:bodyPr/>
                    <a:lstStyle/>
                    <a:p>
                      <a:pPr>
                        <a:buNone/>
                      </a:pPr>
                      <a:r>
                        <a:rPr lang="en-IN"/>
                        <a:t>RAM</a:t>
                      </a:r>
                    </a:p>
                  </a:txBody>
                  <a:tcPr anchor="ctr"/>
                </a:tc>
                <a:tc>
                  <a:txBody>
                    <a:bodyPr/>
                    <a:lstStyle/>
                    <a:p>
                      <a:pPr>
                        <a:buNone/>
                      </a:pPr>
                      <a:r>
                        <a:rPr lang="en-IN" dirty="0"/>
                        <a:t>4 GB or above</a:t>
                      </a:r>
                    </a:p>
                  </a:txBody>
                  <a:tcPr anchor="ctr"/>
                </a:tc>
                <a:extLst>
                  <a:ext uri="{0D108BD9-81ED-4DB2-BD59-A6C34878D82A}">
                    <a16:rowId xmlns:a16="http://schemas.microsoft.com/office/drawing/2014/main" val="1742115956"/>
                  </a:ext>
                </a:extLst>
              </a:tr>
              <a:tr h="518549">
                <a:tc>
                  <a:txBody>
                    <a:bodyPr/>
                    <a:lstStyle/>
                    <a:p>
                      <a:pPr>
                        <a:buNone/>
                      </a:pPr>
                      <a:r>
                        <a:rPr lang="en-IN"/>
                        <a:t>Storage</a:t>
                      </a:r>
                    </a:p>
                  </a:txBody>
                  <a:tcPr anchor="ctr"/>
                </a:tc>
                <a:tc>
                  <a:txBody>
                    <a:bodyPr/>
                    <a:lstStyle/>
                    <a:p>
                      <a:pPr>
                        <a:buNone/>
                      </a:pPr>
                      <a:r>
                        <a:rPr lang="en-IN" dirty="0"/>
                        <a:t>10 GB free space</a:t>
                      </a:r>
                    </a:p>
                  </a:txBody>
                  <a:tcPr anchor="ctr"/>
                </a:tc>
                <a:extLst>
                  <a:ext uri="{0D108BD9-81ED-4DB2-BD59-A6C34878D82A}">
                    <a16:rowId xmlns:a16="http://schemas.microsoft.com/office/drawing/2014/main" val="1839926504"/>
                  </a:ext>
                </a:extLst>
              </a:tr>
            </a:tbl>
          </a:graphicData>
        </a:graphic>
      </p:graphicFrame>
      <p:graphicFrame>
        <p:nvGraphicFramePr>
          <p:cNvPr id="8" name="Table 7">
            <a:extLst>
              <a:ext uri="{FF2B5EF4-FFF2-40B4-BE49-F238E27FC236}">
                <a16:creationId xmlns:a16="http://schemas.microsoft.com/office/drawing/2014/main" id="{D7E94790-4707-27B3-6644-93BE79A7D10E}"/>
              </a:ext>
            </a:extLst>
          </p:cNvPr>
          <p:cNvGraphicFramePr>
            <a:graphicFrameLocks noGrp="1"/>
          </p:cNvGraphicFramePr>
          <p:nvPr>
            <p:extLst>
              <p:ext uri="{D42A27DB-BD31-4B8C-83A1-F6EECF244321}">
                <p14:modId xmlns:p14="http://schemas.microsoft.com/office/powerpoint/2010/main" val="3417673423"/>
              </p:ext>
            </p:extLst>
          </p:nvPr>
        </p:nvGraphicFramePr>
        <p:xfrm>
          <a:off x="6096000" y="2021944"/>
          <a:ext cx="5758543" cy="2560320"/>
        </p:xfrm>
        <a:graphic>
          <a:graphicData uri="http://schemas.openxmlformats.org/drawingml/2006/table">
            <a:tbl>
              <a:tblPr>
                <a:tableStyleId>{5C22544A-7EE6-4342-B048-85BDC9FD1C3A}</a:tableStyleId>
              </a:tblPr>
              <a:tblGrid>
                <a:gridCol w="2586135">
                  <a:extLst>
                    <a:ext uri="{9D8B030D-6E8A-4147-A177-3AD203B41FA5}">
                      <a16:colId xmlns:a16="http://schemas.microsoft.com/office/drawing/2014/main" val="1678430310"/>
                    </a:ext>
                  </a:extLst>
                </a:gridCol>
                <a:gridCol w="3172408">
                  <a:extLst>
                    <a:ext uri="{9D8B030D-6E8A-4147-A177-3AD203B41FA5}">
                      <a16:colId xmlns:a16="http://schemas.microsoft.com/office/drawing/2014/main" val="3824491343"/>
                    </a:ext>
                  </a:extLst>
                </a:gridCol>
              </a:tblGrid>
              <a:tr h="0">
                <a:tc>
                  <a:txBody>
                    <a:bodyPr/>
                    <a:lstStyle/>
                    <a:p>
                      <a:pPr>
                        <a:buNone/>
                      </a:pPr>
                      <a:r>
                        <a:rPr lang="en-IN" b="1" dirty="0"/>
                        <a:t>Software</a:t>
                      </a:r>
                    </a:p>
                  </a:txBody>
                  <a:tcPr anchor="ctr"/>
                </a:tc>
                <a:tc>
                  <a:txBody>
                    <a:bodyPr/>
                    <a:lstStyle/>
                    <a:p>
                      <a:pPr>
                        <a:buNone/>
                      </a:pPr>
                      <a:r>
                        <a:rPr lang="en-IN" b="1" dirty="0"/>
                        <a:t>Requirement</a:t>
                      </a:r>
                    </a:p>
                  </a:txBody>
                  <a:tcPr anchor="ctr"/>
                </a:tc>
                <a:extLst>
                  <a:ext uri="{0D108BD9-81ED-4DB2-BD59-A6C34878D82A}">
                    <a16:rowId xmlns:a16="http://schemas.microsoft.com/office/drawing/2014/main" val="1751073702"/>
                  </a:ext>
                </a:extLst>
              </a:tr>
              <a:tr h="0">
                <a:tc>
                  <a:txBody>
                    <a:bodyPr/>
                    <a:lstStyle/>
                    <a:p>
                      <a:pPr>
                        <a:buNone/>
                      </a:pPr>
                      <a:r>
                        <a:rPr lang="en-IN"/>
                        <a:t>Operating System</a:t>
                      </a:r>
                    </a:p>
                  </a:txBody>
                  <a:tcPr anchor="ctr"/>
                </a:tc>
                <a:tc>
                  <a:txBody>
                    <a:bodyPr/>
                    <a:lstStyle/>
                    <a:p>
                      <a:pPr>
                        <a:buNone/>
                      </a:pPr>
                      <a:r>
                        <a:rPr lang="en-IN"/>
                        <a:t>Linux / Ubuntu</a:t>
                      </a:r>
                    </a:p>
                  </a:txBody>
                  <a:tcPr anchor="ctr"/>
                </a:tc>
                <a:extLst>
                  <a:ext uri="{0D108BD9-81ED-4DB2-BD59-A6C34878D82A}">
                    <a16:rowId xmlns:a16="http://schemas.microsoft.com/office/drawing/2014/main" val="1047573545"/>
                  </a:ext>
                </a:extLst>
              </a:tr>
              <a:tr h="0">
                <a:tc>
                  <a:txBody>
                    <a:bodyPr/>
                    <a:lstStyle/>
                    <a:p>
                      <a:pPr>
                        <a:buNone/>
                      </a:pPr>
                      <a:r>
                        <a:rPr lang="en-IN" dirty="0"/>
                        <a:t>Programming Language</a:t>
                      </a:r>
                    </a:p>
                  </a:txBody>
                  <a:tcPr anchor="ctr"/>
                </a:tc>
                <a:tc>
                  <a:txBody>
                    <a:bodyPr/>
                    <a:lstStyle/>
                    <a:p>
                      <a:pPr>
                        <a:buNone/>
                      </a:pPr>
                      <a:r>
                        <a:rPr lang="en-IN"/>
                        <a:t>C</a:t>
                      </a:r>
                    </a:p>
                  </a:txBody>
                  <a:tcPr anchor="ctr"/>
                </a:tc>
                <a:extLst>
                  <a:ext uri="{0D108BD9-81ED-4DB2-BD59-A6C34878D82A}">
                    <a16:rowId xmlns:a16="http://schemas.microsoft.com/office/drawing/2014/main" val="1905737788"/>
                  </a:ext>
                </a:extLst>
              </a:tr>
              <a:tr h="0">
                <a:tc>
                  <a:txBody>
                    <a:bodyPr/>
                    <a:lstStyle/>
                    <a:p>
                      <a:pPr>
                        <a:buNone/>
                      </a:pPr>
                      <a:r>
                        <a:rPr lang="en-IN"/>
                        <a:t>Compiler</a:t>
                      </a:r>
                    </a:p>
                  </a:txBody>
                  <a:tcPr anchor="ctr"/>
                </a:tc>
                <a:tc>
                  <a:txBody>
                    <a:bodyPr/>
                    <a:lstStyle/>
                    <a:p>
                      <a:pPr>
                        <a:buNone/>
                      </a:pPr>
                      <a:r>
                        <a:rPr lang="en-IN"/>
                        <a:t>GCC</a:t>
                      </a:r>
                    </a:p>
                  </a:txBody>
                  <a:tcPr anchor="ctr"/>
                </a:tc>
                <a:extLst>
                  <a:ext uri="{0D108BD9-81ED-4DB2-BD59-A6C34878D82A}">
                    <a16:rowId xmlns:a16="http://schemas.microsoft.com/office/drawing/2014/main" val="3238015534"/>
                  </a:ext>
                </a:extLst>
              </a:tr>
              <a:tr h="0">
                <a:tc>
                  <a:txBody>
                    <a:bodyPr/>
                    <a:lstStyle/>
                    <a:p>
                      <a:pPr>
                        <a:buNone/>
                      </a:pPr>
                      <a:r>
                        <a:rPr lang="en-IN"/>
                        <a:t>Interface</a:t>
                      </a:r>
                    </a:p>
                  </a:txBody>
                  <a:tcPr anchor="ctr"/>
                </a:tc>
                <a:tc>
                  <a:txBody>
                    <a:bodyPr/>
                    <a:lstStyle/>
                    <a:p>
                      <a:pPr>
                        <a:buNone/>
                      </a:pPr>
                      <a:r>
                        <a:rPr lang="en-IN"/>
                        <a:t>Command Line Interface (CLI)</a:t>
                      </a:r>
                    </a:p>
                  </a:txBody>
                  <a:tcPr anchor="ctr"/>
                </a:tc>
                <a:extLst>
                  <a:ext uri="{0D108BD9-81ED-4DB2-BD59-A6C34878D82A}">
                    <a16:rowId xmlns:a16="http://schemas.microsoft.com/office/drawing/2014/main" val="1165795645"/>
                  </a:ext>
                </a:extLst>
              </a:tr>
              <a:tr h="0">
                <a:tc>
                  <a:txBody>
                    <a:bodyPr/>
                    <a:lstStyle/>
                    <a:p>
                      <a:pPr>
                        <a:buNone/>
                      </a:pPr>
                      <a:r>
                        <a:rPr lang="en-IN"/>
                        <a:t>APIs</a:t>
                      </a:r>
                    </a:p>
                  </a:txBody>
                  <a:tcPr anchor="ctr"/>
                </a:tc>
                <a:tc>
                  <a:txBody>
                    <a:bodyPr/>
                    <a:lstStyle/>
                    <a:p>
                      <a:pPr>
                        <a:buNone/>
                      </a:pPr>
                      <a:r>
                        <a:rPr lang="en-IN"/>
                        <a:t>Linux/POSIX System Calls</a:t>
                      </a:r>
                    </a:p>
                  </a:txBody>
                  <a:tcPr anchor="ctr"/>
                </a:tc>
                <a:extLst>
                  <a:ext uri="{0D108BD9-81ED-4DB2-BD59-A6C34878D82A}">
                    <a16:rowId xmlns:a16="http://schemas.microsoft.com/office/drawing/2014/main" val="2205492672"/>
                  </a:ext>
                </a:extLst>
              </a:tr>
              <a:tr h="0">
                <a:tc>
                  <a:txBody>
                    <a:bodyPr/>
                    <a:lstStyle/>
                    <a:p>
                      <a:pPr>
                        <a:buNone/>
                      </a:pPr>
                      <a:r>
                        <a:rPr lang="en-IN"/>
                        <a:t>Development Tool</a:t>
                      </a:r>
                    </a:p>
                  </a:txBody>
                  <a:tcPr anchor="ctr"/>
                </a:tc>
                <a:tc>
                  <a:txBody>
                    <a:bodyPr/>
                    <a:lstStyle/>
                    <a:p>
                      <a:pPr>
                        <a:buNone/>
                      </a:pPr>
                      <a:r>
                        <a:rPr lang="en-IN" dirty="0"/>
                        <a:t>VS Code / Linux Terminal</a:t>
                      </a:r>
                    </a:p>
                  </a:txBody>
                  <a:tcPr anchor="ctr"/>
                </a:tc>
                <a:extLst>
                  <a:ext uri="{0D108BD9-81ED-4DB2-BD59-A6C34878D82A}">
                    <a16:rowId xmlns:a16="http://schemas.microsoft.com/office/drawing/2014/main" val="22793243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0" y="3208160"/>
            <a:ext cx="4683967"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59358" y="3249150"/>
            <a:ext cx="5923243" cy="52197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 System Architecture</a:t>
            </a:r>
            <a:endParaRPr lang="en-US" sz="2800" b="1" dirty="0">
              <a:solidFill>
                <a:schemeClr val="bg1"/>
              </a:solidFill>
            </a:endParaRPr>
          </a:p>
        </p:txBody>
      </p:sp>
      <p:sp>
        <p:nvSpPr>
          <p:cNvPr id="5" name="Date Placeholder 4">
            <a:extLst>
              <a:ext uri="{FF2B5EF4-FFF2-40B4-BE49-F238E27FC236}">
                <a16:creationId xmlns:a16="http://schemas.microsoft.com/office/drawing/2014/main" id="{57C0467B-10ED-0439-355C-AB546904D26E}"/>
              </a:ext>
            </a:extLst>
          </p:cNvPr>
          <p:cNvSpPr>
            <a:spLocks noGrp="1"/>
          </p:cNvSpPr>
          <p:nvPr>
            <p:ph type="dt" sz="half" idx="10"/>
          </p:nvPr>
        </p:nvSpPr>
        <p:spPr/>
        <p:txBody>
          <a:bodyPr/>
          <a:lstStyle/>
          <a:p>
            <a:fld id="{90F60B09-1F77-4EDB-8151-1F057DCF6ADD}" type="datetime1">
              <a:rPr lang="en-US" smtClean="0"/>
              <a:t>9/2/2026</a:t>
            </a:fld>
            <a:endParaRPr lang="en-US"/>
          </a:p>
        </p:txBody>
      </p:sp>
      <p:sp>
        <p:nvSpPr>
          <p:cNvPr id="6" name="Slide Number Placeholder 5">
            <a:extLst>
              <a:ext uri="{FF2B5EF4-FFF2-40B4-BE49-F238E27FC236}">
                <a16:creationId xmlns:a16="http://schemas.microsoft.com/office/drawing/2014/main" id="{B94128EC-BFB0-E687-111E-633D5D579C93}"/>
              </a:ext>
            </a:extLst>
          </p:cNvPr>
          <p:cNvSpPr>
            <a:spLocks noGrp="1"/>
          </p:cNvSpPr>
          <p:nvPr>
            <p:ph type="sldNum" sz="quarter" idx="12"/>
          </p:nvPr>
        </p:nvSpPr>
        <p:spPr/>
        <p:txBody>
          <a:bodyPr/>
          <a:lstStyle/>
          <a:p>
            <a:fld id="{7EED5C5B-9EF4-44F9-8A5E-F9CA765F3D63}" type="slidenum">
              <a:rPr lang="en-US" smtClean="0"/>
              <a:t>6</a:t>
            </a:fld>
            <a:endParaRPr lang="en-US"/>
          </a:p>
        </p:txBody>
      </p:sp>
      <p:pic>
        <p:nvPicPr>
          <p:cNvPr id="7" name="Picture 6">
            <a:extLst>
              <a:ext uri="{FF2B5EF4-FFF2-40B4-BE49-F238E27FC236}">
                <a16:creationId xmlns:a16="http://schemas.microsoft.com/office/drawing/2014/main" id="{513DC764-425E-8988-48CB-06341DE4493B}"/>
              </a:ext>
            </a:extLst>
          </p:cNvPr>
          <p:cNvPicPr>
            <a:picLocks noChangeAspect="1"/>
          </p:cNvPicPr>
          <p:nvPr/>
        </p:nvPicPr>
        <p:blipFill>
          <a:blip r:embed="rId2"/>
          <a:stretch>
            <a:fillRect/>
          </a:stretch>
        </p:blipFill>
        <p:spPr>
          <a:xfrm>
            <a:off x="5727996" y="137077"/>
            <a:ext cx="5526277" cy="65843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
        <p:nvSpPr>
          <p:cNvPr id="2" name="Date Placeholder 1">
            <a:extLst>
              <a:ext uri="{FF2B5EF4-FFF2-40B4-BE49-F238E27FC236}">
                <a16:creationId xmlns:a16="http://schemas.microsoft.com/office/drawing/2014/main" id="{9D864234-7A34-7521-498A-DD3F6E491DB4}"/>
              </a:ext>
            </a:extLst>
          </p:cNvPr>
          <p:cNvSpPr>
            <a:spLocks noGrp="1"/>
          </p:cNvSpPr>
          <p:nvPr>
            <p:ph type="dt" sz="half" idx="10"/>
          </p:nvPr>
        </p:nvSpPr>
        <p:spPr/>
        <p:txBody>
          <a:bodyPr/>
          <a:lstStyle/>
          <a:p>
            <a:fld id="{76602186-ABE7-42AB-8003-2FA9F73CA34D}" type="datetime1">
              <a:rPr lang="en-US" smtClean="0"/>
              <a:t>9/2/2026</a:t>
            </a:fld>
            <a:endParaRPr lang="en-US"/>
          </a:p>
        </p:txBody>
      </p:sp>
      <p:sp>
        <p:nvSpPr>
          <p:cNvPr id="4" name="Slide Number Placeholder 3">
            <a:extLst>
              <a:ext uri="{FF2B5EF4-FFF2-40B4-BE49-F238E27FC236}">
                <a16:creationId xmlns:a16="http://schemas.microsoft.com/office/drawing/2014/main" id="{9A89A4F7-9EC8-2129-C8BB-C74E5E40CE1A}"/>
              </a:ext>
            </a:extLst>
          </p:cNvPr>
          <p:cNvSpPr>
            <a:spLocks noGrp="1"/>
          </p:cNvSpPr>
          <p:nvPr>
            <p:ph type="sldNum" sz="quarter" idx="12"/>
          </p:nvPr>
        </p:nvSpPr>
        <p:spPr/>
        <p:txBody>
          <a:bodyPr/>
          <a:lstStyle/>
          <a:p>
            <a:fld id="{7EED5C5B-9EF4-44F9-8A5E-F9CA765F3D63}" type="slidenum">
              <a:rPr lang="en-US" smtClean="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399</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       Operating system and system programming (25CS2104E)  Linux File System Explorer System Calls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Jhanasri Thota</cp:lastModifiedBy>
  <cp:revision>24</cp:revision>
  <dcterms:created xsi:type="dcterms:W3CDTF">2026-08-31T05:18:20Z</dcterms:created>
  <dcterms:modified xsi:type="dcterms:W3CDTF">2026-09-02T07:01:15Z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